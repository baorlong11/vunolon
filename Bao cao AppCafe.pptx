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28"/>
  </p:notesMasterIdLst>
  <p:sldIdLst>
    <p:sldId id="256" r:id="rId2"/>
    <p:sldId id="266" r:id="rId3"/>
    <p:sldId id="257" r:id="rId4"/>
    <p:sldId id="268" r:id="rId5"/>
    <p:sldId id="258" r:id="rId6"/>
    <p:sldId id="273" r:id="rId7"/>
    <p:sldId id="259" r:id="rId8"/>
    <p:sldId id="274" r:id="rId9"/>
    <p:sldId id="269" r:id="rId10"/>
    <p:sldId id="270" r:id="rId11"/>
    <p:sldId id="260" r:id="rId12"/>
    <p:sldId id="271" r:id="rId13"/>
    <p:sldId id="272" r:id="rId14"/>
    <p:sldId id="261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63" r:id="rId24"/>
    <p:sldId id="275" r:id="rId25"/>
    <p:sldId id="264" r:id="rId26"/>
    <p:sldId id="26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3" autoAdjust="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outlineViewPr>
    <p:cViewPr>
      <p:scale>
        <a:sx n="33" d="100"/>
        <a:sy n="33" d="100"/>
      </p:scale>
      <p:origin x="0" y="-172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D6714-BEF0-4B84-9835-BA2065B06EC0}" type="datetimeFigureOut">
              <a:rPr lang="vi-VN" smtClean="0"/>
              <a:t>17/07/2026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A8D99-4FAE-44B6-A6AC-1BB6CF3314F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228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A8D99-4FAE-44B6-A6AC-1BB6CF3314F2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185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03F0899-9528-469E-9BBE-2D68CEF04D36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47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DE2E4-5C89-45BE-93FC-CFD48110491D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883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BFE73-F336-4262-8B3B-60000544237C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4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3CB7E-FBC1-4898-921B-CA7099ECCD24}" type="datetime1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315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885-1DDE-491E-80FA-9454E70A916B}" type="datetime1">
              <a:rPr lang="vi-VN" smtClean="0"/>
              <a:t>17/07/2026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5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4768D-2B32-4874-9EA2-F91ED5E4D91C}" type="datetime1">
              <a:rPr lang="vi-VN" smtClean="0"/>
              <a:t>17/07/2026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32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6658-C092-47DC-8AE5-EDAD243FFD08}" type="datetime1">
              <a:rPr lang="vi-VN" smtClean="0"/>
              <a:t>17/07/2026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9356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66A3C-4EA8-4F4D-8541-7E7080DF1B30}" type="datetime1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19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8AFB-A54D-4DD5-8E7A-EF7D2A0C1D5A}" type="datetime1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280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6C70-0CB9-4A9D-9A8F-A65F5171E703}" type="datetime1">
              <a:rPr lang="vi-VN" smtClean="0"/>
              <a:t>17/07/2026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350900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6C70-0CB9-4A9D-9A8F-A65F5171E703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2837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6C70-0CB9-4A9D-9A8F-A65F5171E703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3604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6C70-0CB9-4A9D-9A8F-A65F5171E703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212700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6C70-0CB9-4A9D-9A8F-A65F5171E703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75275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56C70-0CB9-4A9D-9A8F-A65F5171E703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346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9E89-C61F-4DF0-A1BB-4BDC6A0E3388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227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4B38-BFCE-46D5-A0E5-B1F664C0A5C1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88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056C70-0CB9-4A9D-9A8F-A65F5171E703}" type="datetime1">
              <a:rPr lang="vi-VN" smtClean="0"/>
              <a:t>17/07/2026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8CA5CC-EC16-4037-8EA8-BE273E13B7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4684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A6B9-B702-1DC0-3CF8-0967A72A5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717" y="1190297"/>
            <a:ext cx="11705897" cy="223870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DỰ ÁN </a:t>
            </a:r>
            <a:b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LÍ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CAFE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C8948-D9E1-767B-E6BF-0B74D00CB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3933" y="3599079"/>
            <a:ext cx="4653213" cy="179222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2411110036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Châu Bảo Long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2411110096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nhật Tiến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/>
              <a:t>2411110079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Nguyễn</a:t>
            </a:r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Đình Phát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2411110086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vi-V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Huỳnh Trí Thiện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2414210004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Lê Tiến Triển</a:t>
            </a:r>
            <a:endParaRPr lang="vi-VN" dirty="0"/>
          </a:p>
          <a:p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8FD5F-F633-EB56-EB79-7D4124F0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</a:t>
            </a:fld>
            <a:endParaRPr lang="vi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D358D-D2F9-60D9-4983-17E4124F91D8}"/>
              </a:ext>
            </a:extLst>
          </p:cNvPr>
          <p:cNvSpPr txBox="1"/>
          <p:nvPr/>
        </p:nvSpPr>
        <p:spPr>
          <a:xfrm>
            <a:off x="1133061" y="168965"/>
            <a:ext cx="7251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Học Quốc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Công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ĩ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Công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5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C245-9A88-43DA-E3D5-5733035F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15F22-8D16-AAD8-CC47-D4F750466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Tech Stack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(CSDL)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(Code)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Demo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Tài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05821-596B-B6EB-A82D-63F2434F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938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342B-3F3A-A135-8A61-2B594F72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AB42-AC05-8856-9B10-AF29ACF9C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480657" cy="3412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Tổng Quan Về Giải Pháp AppCafe</a:t>
            </a:r>
          </a:p>
          <a:p>
            <a:pPr marL="0" indent="0">
              <a:buNone/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CafeApp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sạch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 SDK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Kotlin,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547A6-399C-6BA9-DEEF-8003A448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3</a:t>
            </a:fld>
            <a:endParaRPr lang="vi-VN"/>
          </a:p>
        </p:txBody>
      </p:sp>
      <p:pic>
        <p:nvPicPr>
          <p:cNvPr id="5" name="Picture 4" descr="Barista pha chế cà phê tại cửa hàng hiện đại">
            <a:extLst>
              <a:ext uri="{FF2B5EF4-FFF2-40B4-BE49-F238E27FC236}">
                <a16:creationId xmlns:a16="http://schemas.microsoft.com/office/drawing/2014/main" id="{D0B901B1-AA94-2BBA-49C2-D64CC1FF7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58" y="2556931"/>
            <a:ext cx="3120540" cy="33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2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C361-42C1-D7E2-6395-CD9120F1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47460"/>
            <a:ext cx="10058400" cy="146336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0448-675C-2A49-0C66-5D51184E8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779776"/>
            <a:ext cx="10058400" cy="2933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sz="2800" b="1" dirty="0"/>
              <a:t>Các Tính Năng Cốt Lõi</a:t>
            </a:r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154D0-FC2B-BC85-977D-374C1296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4</a:t>
            </a:fld>
            <a:endParaRPr lang="vi-V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FBE48F-CFD9-75F2-B0A3-B745CDA83FC1}"/>
              </a:ext>
            </a:extLst>
          </p:cNvPr>
          <p:cNvSpPr/>
          <p:nvPr/>
        </p:nvSpPr>
        <p:spPr>
          <a:xfrm>
            <a:off x="1113131" y="3635652"/>
            <a:ext cx="3211373" cy="233334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Helper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7D1035-1992-C92E-2C99-C56C66E1CA3A}"/>
              </a:ext>
            </a:extLst>
          </p:cNvPr>
          <p:cNvSpPr/>
          <p:nvPr/>
        </p:nvSpPr>
        <p:spPr>
          <a:xfrm>
            <a:off x="4513479" y="3635654"/>
            <a:ext cx="3211373" cy="233334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DE34E4-F6EA-0930-DFAA-5B3A34C9A6B1}"/>
              </a:ext>
            </a:extLst>
          </p:cNvPr>
          <p:cNvSpPr/>
          <p:nvPr/>
        </p:nvSpPr>
        <p:spPr>
          <a:xfrm>
            <a:off x="7913827" y="3635652"/>
            <a:ext cx="3211373" cy="233334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`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ManagementCart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&lt;svg xmlns=&quot;http://www.w3.org/2000/svg&quot; height=&quot;24px&quot; viewBox=&quot;0 -960 960 960&quot; width=&quot;24px&quot; fill=&quot;#D16D6A&quot;&gt;&lt;path d=&quot;M367-527q-47-47-47-113t47-113q47-47 113-47t113 47q47 47 47 113t-47 113q-47 47-113 47t-113-47ZM160-160v-112q0-34 17.5-62.5T224-378q62-31 126-46.5T480-440q66 0 130 15.5T736-378q29 15 46.5 43.5T800-272v112H160Z&quot;/&gt;&lt;/svg&gt;">
            <a:extLst>
              <a:ext uri="{FF2B5EF4-FFF2-40B4-BE49-F238E27FC236}">
                <a16:creationId xmlns:a16="http://schemas.microsoft.com/office/drawing/2014/main" id="{53733E21-4594-AB17-D3AD-7CAA1C0F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379" y="3763668"/>
            <a:ext cx="588875" cy="614479"/>
          </a:xfrm>
          <a:prstGeom prst="rect">
            <a:avLst/>
          </a:prstGeom>
        </p:spPr>
      </p:pic>
      <p:pic>
        <p:nvPicPr>
          <p:cNvPr id="18" name="Picture 17" descr="&lt;svg xmlns=&quot;http://www.w3.org/2000/svg&quot; height=&quot;24px&quot; viewBox=&quot;0 -960 960 960&quot; width=&quot;24px&quot; fill=&quot;#D16D6A&quot;&gt;&lt;path d=&quot;M680-80q-83 0-141.5-58.5T480-280q0-83 58.5-141.5T680-480q83 0 141.5 58.5T880-280q0 83-58.5 141.5T680-80Zm-200 0q-139-35-229.5-159.5T160-516v-244l320-120 320 120v227q-26-13-58.5-20t-61.5-7q-116 0-198 82t-82 198q0 62 23.5 112T483-81q-1 0-1.5.5t-1.5.5Zm242.5-217.5Q740-315 740-340t-17.5-42.5Q705-400 680-400t-42.5 17.5Q620-365 620-340t17.5 42.5Q655-280 680-280t42.5-17.5ZM680-160q31 0 57-14.5t42-38.5q-22-13-47-20t-52-7q-27 0-52 7t-47 20q16 24 42 38.5t57 14.5Z&quot;/&gt;&lt;/svg&gt;">
            <a:extLst>
              <a:ext uri="{FF2B5EF4-FFF2-40B4-BE49-F238E27FC236}">
                <a16:creationId xmlns:a16="http://schemas.microsoft.com/office/drawing/2014/main" id="{FD92C93A-78FA-CE0E-A034-91E38B26F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7" y="3828588"/>
            <a:ext cx="588875" cy="484635"/>
          </a:xfrm>
          <a:prstGeom prst="rect">
            <a:avLst/>
          </a:prstGeom>
        </p:spPr>
      </p:pic>
      <p:pic>
        <p:nvPicPr>
          <p:cNvPr id="19" name="Picture 18" descr="&lt;svg xmlns=&quot;http://www.w3.org/2000/svg&quot; height=&quot;24px&quot; viewBox=&quot;0 -960 960 960&quot; width=&quot;24px&quot; fill=&quot;#D16D6A&quot;&gt;&lt;path d=&quot;M223.5-103.5Q200-127 200-160t23.5-56.5Q247-240 280-240t56.5 23.5Q360-193 360-160t-23.5 56.5Q313-80 280-80t-56.5-23.5Zm400 0Q600-127 600-160t23.5-56.5Q647-240 680-240t56.5 23.5Q760-193 760-160t-23.5 56.5Q713-80 680-80t-56.5-23.5ZM208-800h590q23 0 35 20.5t1 41.5L692-482q-11 20-29.5 31T622-440H324l-44 80h480v80H280q-45 0-68-39.5t-2-78.5l54-98-144-304H40v-80h130l38 80Z&quot;/&gt;&lt;/svg&gt;">
            <a:extLst>
              <a:ext uri="{FF2B5EF4-FFF2-40B4-BE49-F238E27FC236}">
                <a16:creationId xmlns:a16="http://schemas.microsoft.com/office/drawing/2014/main" id="{C8104147-0B9C-5759-4500-BF900DEAF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470" y="3828589"/>
            <a:ext cx="526086" cy="48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A6BD-7282-CEE3-89EB-EE1CC304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Tech Stack –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Sử Dụng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1AB1F4-C569-3867-5A0F-B59299FF2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(Null-safety)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Realtime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Storage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Thư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Glide / Coil: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(load)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(cache)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Database.</a:t>
            </a:r>
          </a:p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ViewBinding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findViewById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runtime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C04AA-FF15-48CE-CBC1-450002D8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617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8ED7-7775-B939-6713-2DE4A171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Tech Stack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5C5AE-C440-52D1-ACDF-7ACA552B2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608" y="2556932"/>
            <a:ext cx="9601196" cy="341206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(Giao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(Memory Leak)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(Entities)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00ED9-44F1-CD38-4FBC-17B95C2F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062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E349-76F3-ACA0-3D86-032FE9CA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DDD5B-C4DB-11C0-A698-E58F5700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4120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3.1.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Chức năng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àng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(Client App)</a:t>
            </a:r>
          </a:p>
          <a:p>
            <a:pPr marL="0" indent="0"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(Dashboard):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Hiển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banner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Bánh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ngọt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(Product Detail):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Hiển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(S, M, L),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(Cart):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70FF8-B942-497C-8A78-DA6F8C7D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11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AE086-663E-0DE4-AF19-D2C0DB7E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570" y="896044"/>
            <a:ext cx="9601196" cy="1303867"/>
          </a:xfrm>
        </p:spPr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Chức năng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DB9A1-1D72-8F80-B20E-783E3BFD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70" y="2556932"/>
            <a:ext cx="9612027" cy="3318936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37415-D118-C7A3-D270-4C7F5AA1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8</a:t>
            </a:fld>
            <a:endParaRPr lang="vi-V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330D5A-F937-9770-0373-A211574937C1}"/>
              </a:ext>
            </a:extLst>
          </p:cNvPr>
          <p:cNvCxnSpPr/>
          <p:nvPr/>
        </p:nvCxnSpPr>
        <p:spPr>
          <a:xfrm>
            <a:off x="1597606" y="4484218"/>
            <a:ext cx="886602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D4E3B5B-0322-F6B4-4ABB-23A153486DAD}"/>
              </a:ext>
            </a:extLst>
          </p:cNvPr>
          <p:cNvSpPr/>
          <p:nvPr/>
        </p:nvSpPr>
        <p:spPr>
          <a:xfrm>
            <a:off x="1597606" y="4378145"/>
            <a:ext cx="219457" cy="212141"/>
          </a:xfrm>
          <a:prstGeom prst="flowChartConnecto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1DFF1A3-9529-E7AC-D1ED-74AC63DA1E8F}"/>
              </a:ext>
            </a:extLst>
          </p:cNvPr>
          <p:cNvSpPr/>
          <p:nvPr/>
        </p:nvSpPr>
        <p:spPr>
          <a:xfrm>
            <a:off x="10350927" y="4366073"/>
            <a:ext cx="219457" cy="212141"/>
          </a:xfrm>
          <a:prstGeom prst="flowChartConnecto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9312C78-6D74-F58B-28FA-DC535D8BDC78}"/>
              </a:ext>
            </a:extLst>
          </p:cNvPr>
          <p:cNvSpPr/>
          <p:nvPr/>
        </p:nvSpPr>
        <p:spPr>
          <a:xfrm>
            <a:off x="4525001" y="4378145"/>
            <a:ext cx="219457" cy="212141"/>
          </a:xfrm>
          <a:prstGeom prst="flowChartConnecto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C25682C-653A-03FE-9135-7F1B5074F4CE}"/>
              </a:ext>
            </a:extLst>
          </p:cNvPr>
          <p:cNvSpPr/>
          <p:nvPr/>
        </p:nvSpPr>
        <p:spPr>
          <a:xfrm>
            <a:off x="7423532" y="4361314"/>
            <a:ext cx="219457" cy="212141"/>
          </a:xfrm>
          <a:prstGeom prst="flowChartConnecto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F6848-7688-2199-40D9-58DA9F1ACFD7}"/>
              </a:ext>
            </a:extLst>
          </p:cNvPr>
          <p:cNvSpPr txBox="1"/>
          <p:nvPr/>
        </p:nvSpPr>
        <p:spPr>
          <a:xfrm>
            <a:off x="1284570" y="4672211"/>
            <a:ext cx="26658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1. Duyệt thực đơn</a:t>
            </a:r>
          </a:p>
          <a:p>
            <a:r>
              <a:rPr lang="en-US" sz="1400" dirty="0" err="1"/>
              <a:t>MainActivity</a:t>
            </a:r>
            <a:r>
              <a:rPr lang="en-US" sz="1400" dirty="0"/>
              <a:t> </a:t>
            </a:r>
            <a:r>
              <a:rPr lang="en-US" sz="1400" dirty="0" err="1"/>
              <a:t>tải</a:t>
            </a:r>
            <a:r>
              <a:rPr lang="en-US" sz="1400" dirty="0"/>
              <a:t> </a:t>
            </a:r>
            <a:r>
              <a:rPr lang="en-US" sz="1400" dirty="0" err="1"/>
              <a:t>danh</a:t>
            </a:r>
            <a:r>
              <a:rPr lang="en-US" sz="1400" dirty="0"/>
              <a:t> </a:t>
            </a:r>
            <a:r>
              <a:rPr lang="en-US" sz="1400" dirty="0" err="1"/>
              <a:t>sách</a:t>
            </a:r>
            <a:r>
              <a:rPr lang="en-US" sz="1400" dirty="0"/>
              <a:t> </a:t>
            </a:r>
            <a:r>
              <a:rPr lang="en-US" sz="1400" dirty="0" err="1"/>
              <a:t>đồ</a:t>
            </a:r>
            <a:r>
              <a:rPr lang="en-US" sz="1400" dirty="0"/>
              <a:t> </a:t>
            </a:r>
            <a:r>
              <a:rPr lang="en-US" sz="1400" dirty="0" err="1"/>
              <a:t>uống</a:t>
            </a:r>
            <a:r>
              <a:rPr lang="en-US" sz="1400" dirty="0"/>
              <a:t> </a:t>
            </a:r>
            <a:r>
              <a:rPr lang="en-US" sz="1400" dirty="0" err="1"/>
              <a:t>phân</a:t>
            </a:r>
            <a:r>
              <a:rPr lang="en-US" sz="1400" dirty="0"/>
              <a:t> chia </a:t>
            </a:r>
            <a:r>
              <a:rPr lang="en-US" sz="1400" dirty="0" err="1"/>
              <a:t>theo</a:t>
            </a:r>
            <a:r>
              <a:rPr lang="en-US" sz="1400" dirty="0"/>
              <a:t> </a:t>
            </a:r>
            <a:r>
              <a:rPr lang="en-US" sz="1400" dirty="0" err="1"/>
              <a:t>danh</a:t>
            </a:r>
            <a:r>
              <a:rPr lang="en-US" sz="1400" dirty="0"/>
              <a:t> </a:t>
            </a:r>
            <a:r>
              <a:rPr lang="en-US" sz="1400" dirty="0" err="1"/>
              <a:t>mục</a:t>
            </a:r>
            <a:r>
              <a:rPr lang="en-US" sz="1400" dirty="0"/>
              <a:t> </a:t>
            </a:r>
            <a:r>
              <a:rPr lang="en-US" sz="1400" dirty="0" err="1"/>
              <a:t>trực</a:t>
            </a:r>
            <a:r>
              <a:rPr lang="en-US" sz="1400" dirty="0"/>
              <a:t> </a:t>
            </a:r>
            <a:r>
              <a:rPr lang="en-US" sz="1400" dirty="0" err="1"/>
              <a:t>quan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mượt</a:t>
            </a:r>
            <a:r>
              <a:rPr lang="en-US" sz="1400" dirty="0"/>
              <a:t> </a:t>
            </a:r>
            <a:r>
              <a:rPr lang="en-US" sz="1400" dirty="0" err="1"/>
              <a:t>mà</a:t>
            </a:r>
            <a:r>
              <a:rPr lang="en-US" sz="14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4FD40C-2719-E582-3782-ADFC3C29F0BA}"/>
              </a:ext>
            </a:extLst>
          </p:cNvPr>
          <p:cNvSpPr txBox="1"/>
          <p:nvPr/>
        </p:nvSpPr>
        <p:spPr>
          <a:xfrm>
            <a:off x="3383900" y="3334022"/>
            <a:ext cx="2501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2. Xem chi tiết</a:t>
            </a:r>
          </a:p>
          <a:p>
            <a:r>
              <a:rPr lang="en-US" sz="1400" dirty="0" err="1"/>
              <a:t>DetailActivity</a:t>
            </a:r>
            <a:r>
              <a:rPr lang="en-US" sz="1400" dirty="0"/>
              <a:t> </a:t>
            </a:r>
            <a:r>
              <a:rPr lang="en-US" sz="1400" dirty="0" err="1"/>
              <a:t>hiển</a:t>
            </a:r>
            <a:r>
              <a:rPr lang="en-US" sz="1400" dirty="0"/>
              <a:t> </a:t>
            </a:r>
            <a:r>
              <a:rPr lang="en-US" sz="1400" dirty="0" err="1"/>
              <a:t>thị</a:t>
            </a:r>
            <a:r>
              <a:rPr lang="en-US" sz="1400" dirty="0"/>
              <a:t> </a:t>
            </a:r>
            <a:r>
              <a:rPr lang="en-US" sz="1400" dirty="0" err="1"/>
              <a:t>hình</a:t>
            </a:r>
            <a:r>
              <a:rPr lang="en-US" sz="1400" dirty="0"/>
              <a:t> </a:t>
            </a:r>
            <a:r>
              <a:rPr lang="en-US" sz="1400" dirty="0" err="1"/>
              <a:t>ảnh</a:t>
            </a:r>
            <a:r>
              <a:rPr lang="en-US" sz="1400" dirty="0"/>
              <a:t> </a:t>
            </a:r>
            <a:r>
              <a:rPr lang="en-US" sz="1400" dirty="0" err="1"/>
              <a:t>lớn</a:t>
            </a:r>
            <a:r>
              <a:rPr lang="en-US" sz="1400" dirty="0"/>
              <a:t>, </a:t>
            </a:r>
            <a:r>
              <a:rPr lang="en-US" sz="1400" dirty="0" err="1"/>
              <a:t>mô</a:t>
            </a:r>
            <a:r>
              <a:rPr lang="en-US" sz="1400" dirty="0"/>
              <a:t> </a:t>
            </a:r>
            <a:r>
              <a:rPr lang="en-US" sz="1400" dirty="0" err="1"/>
              <a:t>tả</a:t>
            </a:r>
            <a:r>
              <a:rPr lang="en-US" sz="1400" dirty="0"/>
              <a:t> </a:t>
            </a:r>
            <a:r>
              <a:rPr lang="en-US" sz="1400" dirty="0" err="1"/>
              <a:t>hương</a:t>
            </a:r>
            <a:r>
              <a:rPr lang="en-US" sz="1400" dirty="0"/>
              <a:t> </a:t>
            </a:r>
            <a:r>
              <a:rPr lang="en-US" sz="1400" dirty="0" err="1"/>
              <a:t>vị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nút</a:t>
            </a:r>
            <a:r>
              <a:rPr lang="en-US" sz="1400" dirty="0"/>
              <a:t> </a:t>
            </a:r>
            <a:r>
              <a:rPr lang="en-US" sz="1400" dirty="0" err="1"/>
              <a:t>lựa</a:t>
            </a:r>
            <a:r>
              <a:rPr lang="en-US" sz="1400" dirty="0"/>
              <a:t> </a:t>
            </a:r>
            <a:r>
              <a:rPr lang="en-US" sz="1400" dirty="0" err="1"/>
              <a:t>chọn</a:t>
            </a:r>
            <a:r>
              <a:rPr lang="en-US" sz="1400" dirty="0"/>
              <a:t> </a:t>
            </a:r>
            <a:r>
              <a:rPr lang="en-US" sz="1400" dirty="0" err="1"/>
              <a:t>thêm</a:t>
            </a:r>
            <a:r>
              <a:rPr lang="en-US" sz="1400" dirty="0"/>
              <a:t>.</a:t>
            </a:r>
            <a:endParaRPr lang="vi-VN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0812E-8008-6A96-5CFD-59AFB7AE25B5}"/>
              </a:ext>
            </a:extLst>
          </p:cNvPr>
          <p:cNvSpPr txBox="1"/>
          <p:nvPr/>
        </p:nvSpPr>
        <p:spPr>
          <a:xfrm>
            <a:off x="6290587" y="4691600"/>
            <a:ext cx="24853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3. Đặt giỏ hàng </a:t>
            </a:r>
            <a:r>
              <a:rPr lang="en-US" sz="1400" dirty="0" err="1"/>
              <a:t>ManagementCart</a:t>
            </a:r>
            <a:r>
              <a:rPr lang="en-US" sz="1400" dirty="0"/>
              <a:t>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 err="1"/>
              <a:t>toán</a:t>
            </a:r>
            <a:r>
              <a:rPr lang="en-US" sz="1400" dirty="0"/>
              <a:t> </a:t>
            </a:r>
            <a:r>
              <a:rPr lang="en-US" sz="1400" dirty="0" err="1"/>
              <a:t>tổng</a:t>
            </a:r>
            <a:r>
              <a:rPr lang="en-US" sz="1400" dirty="0"/>
              <a:t> </a:t>
            </a:r>
            <a:r>
              <a:rPr lang="en-US" sz="1400" dirty="0" err="1"/>
              <a:t>số</a:t>
            </a:r>
            <a:r>
              <a:rPr lang="en-US" sz="1400" dirty="0"/>
              <a:t> </a:t>
            </a:r>
            <a:r>
              <a:rPr lang="en-US" sz="1400" dirty="0" err="1"/>
              <a:t>tiền</a:t>
            </a:r>
            <a:r>
              <a:rPr lang="en-US" sz="1400" dirty="0"/>
              <a:t> </a:t>
            </a:r>
            <a:r>
              <a:rPr lang="en-US" sz="1400" dirty="0" err="1"/>
              <a:t>dựa</a:t>
            </a:r>
            <a:r>
              <a:rPr lang="en-US" sz="1400" dirty="0"/>
              <a:t> </a:t>
            </a:r>
            <a:r>
              <a:rPr lang="en-US" sz="1400" dirty="0" err="1"/>
              <a:t>trên</a:t>
            </a:r>
            <a:r>
              <a:rPr lang="en-US" sz="1400" dirty="0"/>
              <a:t> </a:t>
            </a:r>
            <a:r>
              <a:rPr lang="en-US" sz="1400" dirty="0" err="1"/>
              <a:t>công</a:t>
            </a:r>
            <a:r>
              <a:rPr lang="en-US" sz="1400" dirty="0"/>
              <a:t> </a:t>
            </a:r>
            <a:r>
              <a:rPr lang="en-US" sz="1400" dirty="0" err="1"/>
              <a:t>thức</a:t>
            </a:r>
            <a:r>
              <a:rPr lang="en-US" sz="1400" dirty="0"/>
              <a:t> </a:t>
            </a:r>
            <a:r>
              <a:rPr lang="en-US" sz="1400" dirty="0" err="1"/>
              <a:t>nhân</a:t>
            </a:r>
            <a:r>
              <a:rPr lang="en-US" sz="1400" dirty="0"/>
              <a:t> </a:t>
            </a:r>
            <a:r>
              <a:rPr lang="en-US" sz="1400" dirty="0" err="1"/>
              <a:t>số</a:t>
            </a:r>
            <a:r>
              <a:rPr lang="en-US" sz="1400" dirty="0"/>
              <a:t> </a:t>
            </a:r>
            <a:r>
              <a:rPr lang="en-US" sz="1400" dirty="0" err="1"/>
              <a:t>lượng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đơn</a:t>
            </a:r>
            <a:r>
              <a:rPr lang="en-US" sz="1400" dirty="0"/>
              <a:t> </a:t>
            </a:r>
            <a:r>
              <a:rPr lang="en-US" sz="1400" dirty="0" err="1"/>
              <a:t>giá</a:t>
            </a:r>
            <a:r>
              <a:rPr lang="en-US" sz="1400" dirty="0"/>
              <a:t> </a:t>
            </a:r>
            <a:r>
              <a:rPr lang="en-US" sz="1400" dirty="0" err="1"/>
              <a:t>tức</a:t>
            </a:r>
            <a:r>
              <a:rPr lang="en-US" sz="1400" dirty="0"/>
              <a:t> </a:t>
            </a:r>
            <a:r>
              <a:rPr lang="en-US" sz="1400" dirty="0" err="1"/>
              <a:t>thì</a:t>
            </a:r>
            <a:r>
              <a:rPr lang="en-US" sz="1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744C59-BBF8-F0DF-DD6E-95EBC2D2504B}"/>
              </a:ext>
            </a:extLst>
          </p:cNvPr>
          <p:cNvSpPr txBox="1"/>
          <p:nvPr/>
        </p:nvSpPr>
        <p:spPr>
          <a:xfrm>
            <a:off x="8321439" y="3280563"/>
            <a:ext cx="25643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4. Thanh Toán</a:t>
            </a:r>
          </a:p>
          <a:p>
            <a:r>
              <a:rPr lang="en-US" sz="1400" dirty="0" err="1"/>
              <a:t>CheckoutActivity</a:t>
            </a:r>
            <a:r>
              <a:rPr lang="en-US" sz="1400" dirty="0"/>
              <a:t> </a:t>
            </a:r>
            <a:r>
              <a:rPr lang="en-US" sz="1400" dirty="0" err="1"/>
              <a:t>gửi</a:t>
            </a:r>
            <a:r>
              <a:rPr lang="en-US" sz="1400" dirty="0"/>
              <a:t> </a:t>
            </a:r>
            <a:r>
              <a:rPr lang="en-US" sz="1400" dirty="0" err="1"/>
              <a:t>thông</a:t>
            </a:r>
            <a:r>
              <a:rPr lang="en-US" sz="1400" dirty="0"/>
              <a:t> tin </a:t>
            </a:r>
            <a:r>
              <a:rPr lang="en-US" sz="1400" dirty="0" err="1"/>
              <a:t>đơn</a:t>
            </a:r>
            <a:r>
              <a:rPr lang="en-US" sz="1400" dirty="0"/>
              <a:t> </a:t>
            </a:r>
            <a:r>
              <a:rPr lang="en-US" sz="1400" dirty="0" err="1"/>
              <a:t>hàng</a:t>
            </a:r>
            <a:r>
              <a:rPr lang="en-US" sz="1400" dirty="0"/>
              <a:t> </a:t>
            </a:r>
            <a:r>
              <a:rPr lang="en-US" sz="1400" dirty="0" err="1"/>
              <a:t>lên</a:t>
            </a:r>
            <a:r>
              <a:rPr lang="en-US" sz="1400" dirty="0"/>
              <a:t> </a:t>
            </a:r>
            <a:r>
              <a:rPr lang="en-US" sz="1400" dirty="0" err="1"/>
              <a:t>hệ</a:t>
            </a:r>
            <a:r>
              <a:rPr lang="en-US" sz="1400" dirty="0"/>
              <a:t> </a:t>
            </a:r>
            <a:r>
              <a:rPr lang="en-US" sz="1400" dirty="0" err="1"/>
              <a:t>thống</a:t>
            </a:r>
            <a:r>
              <a:rPr lang="en-US" sz="1400" dirty="0"/>
              <a:t>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chuyển</a:t>
            </a:r>
            <a:r>
              <a:rPr lang="en-US" sz="1400" dirty="0"/>
              <a:t> </a:t>
            </a:r>
            <a:r>
              <a:rPr lang="en-US" sz="1400" dirty="0" err="1"/>
              <a:t>về</a:t>
            </a:r>
            <a:r>
              <a:rPr lang="en-US" sz="1400" dirty="0"/>
              <a:t> </a:t>
            </a:r>
            <a:r>
              <a:rPr lang="en-US" sz="1400" dirty="0" err="1"/>
              <a:t>giao</a:t>
            </a:r>
            <a:r>
              <a:rPr lang="en-US" sz="1400" dirty="0"/>
              <a:t> </a:t>
            </a:r>
            <a:r>
              <a:rPr lang="en-US" sz="1400" dirty="0" err="1"/>
              <a:t>diện</a:t>
            </a:r>
            <a:r>
              <a:rPr lang="en-US" sz="1400" dirty="0"/>
              <a:t> </a:t>
            </a:r>
            <a:r>
              <a:rPr lang="en-US" sz="1400" dirty="0" err="1"/>
              <a:t>theo</a:t>
            </a:r>
            <a:r>
              <a:rPr lang="en-US" sz="1400" dirty="0"/>
              <a:t> </a:t>
            </a:r>
            <a:r>
              <a:rPr lang="en-US" sz="1400" dirty="0" err="1"/>
              <a:t>dõi</a:t>
            </a:r>
            <a:r>
              <a:rPr lang="en-US" sz="1400" dirty="0"/>
              <a:t> </a:t>
            </a:r>
            <a:r>
              <a:rPr lang="en-US" sz="1400" dirty="0" err="1"/>
              <a:t>đơn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596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BA4C-B00D-9306-8C7C-F1F5A8B5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B1438-645A-6A65-AC41-8C703F2C6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3.2.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Quản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(Admin Dashboard)</a:t>
            </a:r>
          </a:p>
          <a:p>
            <a:pPr marL="0" indent="0"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indent="0">
              <a:buNone/>
            </a:pP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17B9-5F15-2F01-6EE9-998083A6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051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D71E-FA3F-76B9-66D4-D25F4BE4A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–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BAEF0-8ACB-6276-7C38-1FAFE7832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Quản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(Cart Management)</a:t>
            </a:r>
          </a:p>
          <a:p>
            <a:pPr marL="0" indent="0">
              <a:buNone/>
            </a:pPr>
            <a:r>
              <a:rPr lang="vi-VN" dirty="0">
                <a:latin typeface="Time s New Roman"/>
              </a:rPr>
              <a:t>- </a:t>
            </a:r>
            <a:r>
              <a:rPr lang="en-US" dirty="0" err="1">
                <a:latin typeface="Time s New Roman"/>
              </a:rPr>
              <a:t>Chức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năng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này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chịu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trách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nhiệm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quản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lý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trạng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thái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chọn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món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tạm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thời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của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khách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trước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tiến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đặt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chính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thức</a:t>
            </a:r>
            <a:r>
              <a:rPr lang="en-US" dirty="0">
                <a:latin typeface="Time s New Roman"/>
              </a:rPr>
              <a:t>. </a:t>
            </a:r>
            <a:r>
              <a:rPr lang="en-US" dirty="0" err="1">
                <a:latin typeface="Time s New Roman"/>
              </a:rPr>
              <a:t>Để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đảm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bảo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trải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nghiệm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mượt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mà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và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không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mất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dữ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liệu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mất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kết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nối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mạng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đột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ngột</a:t>
            </a:r>
            <a:r>
              <a:rPr lang="en-US" dirty="0">
                <a:latin typeface="Time s New Roman"/>
              </a:rPr>
              <a:t>, </a:t>
            </a:r>
            <a:r>
              <a:rPr lang="en-US" dirty="0" err="1">
                <a:latin typeface="Time s New Roman"/>
              </a:rPr>
              <a:t>thay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vì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áp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dụng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cơ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chế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quản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lý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giỏ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 lai (Hybrid) </a:t>
            </a:r>
            <a:r>
              <a:rPr lang="en-US" dirty="0" err="1">
                <a:latin typeface="Time s New Roman"/>
              </a:rPr>
              <a:t>phức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tạp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thông</a:t>
            </a:r>
            <a:r>
              <a:rPr lang="en-US" dirty="0">
                <a:latin typeface="Time s New Roman"/>
              </a:rPr>
              <a:t> qua API Spring Boot </a:t>
            </a:r>
            <a:r>
              <a:rPr lang="en-US" dirty="0" err="1">
                <a:latin typeface="Time s New Roman"/>
              </a:rPr>
              <a:t>và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hệ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quản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trị</a:t>
            </a:r>
            <a:r>
              <a:rPr lang="en-US" dirty="0">
                <a:latin typeface="Time s New Roman"/>
              </a:rPr>
              <a:t> MySQL </a:t>
            </a:r>
            <a:r>
              <a:rPr lang="en-US" dirty="0" err="1">
                <a:latin typeface="Time s New Roman"/>
              </a:rPr>
              <a:t>truyền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thống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hệ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thống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hiện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tại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áp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dụng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giải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pháp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lưu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trữ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đám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mây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linh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hoạt</a:t>
            </a:r>
            <a:r>
              <a:rPr lang="en-US" dirty="0">
                <a:latin typeface="Time s New Roman"/>
              </a:rPr>
              <a:t>: </a:t>
            </a:r>
            <a:r>
              <a:rPr lang="en-US" b="1" dirty="0" err="1">
                <a:latin typeface="Time s New Roman"/>
              </a:rPr>
              <a:t>Đồng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bộ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hóa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thời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gian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thực</a:t>
            </a:r>
            <a:r>
              <a:rPr lang="en-US" b="1" dirty="0">
                <a:latin typeface="Time s New Roman"/>
              </a:rPr>
              <a:t> (Real-time synchronization) </a:t>
            </a:r>
            <a:r>
              <a:rPr lang="en-US" b="1" dirty="0" err="1">
                <a:latin typeface="Time s New Roman"/>
              </a:rPr>
              <a:t>thông</a:t>
            </a:r>
            <a:r>
              <a:rPr lang="en-US" b="1" dirty="0">
                <a:latin typeface="Time s New Roman"/>
              </a:rPr>
              <a:t> qua Firebase Realtime Database </a:t>
            </a:r>
            <a:r>
              <a:rPr lang="en-US" b="1" dirty="0" err="1">
                <a:latin typeface="Time s New Roman"/>
              </a:rPr>
              <a:t>kết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hợp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cơ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chế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lưu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đệm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ngoại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tuyến</a:t>
            </a:r>
            <a:r>
              <a:rPr lang="en-US" b="1" dirty="0">
                <a:latin typeface="Time s New Roman"/>
              </a:rPr>
              <a:t> (Offline Persistence) </a:t>
            </a:r>
            <a:r>
              <a:rPr lang="en-US" b="1" dirty="0" err="1">
                <a:latin typeface="Time s New Roman"/>
              </a:rPr>
              <a:t>của</a:t>
            </a:r>
            <a:r>
              <a:rPr lang="en-US" b="1" dirty="0">
                <a:latin typeface="Time s New Roman"/>
              </a:rPr>
              <a:t> Firebase SDK </a:t>
            </a:r>
            <a:r>
              <a:rPr lang="en-US" b="1" dirty="0" err="1">
                <a:latin typeface="Time s New Roman"/>
              </a:rPr>
              <a:t>trên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thiết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bị</a:t>
            </a:r>
            <a:r>
              <a:rPr lang="en-US" b="1" dirty="0">
                <a:latin typeface="Time s New Roman"/>
              </a:rPr>
              <a:t> Android Client</a:t>
            </a:r>
            <a:r>
              <a:rPr lang="en-US" dirty="0">
                <a:latin typeface="Time s New Roman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1E244-0A9F-92CA-1041-98E45CC3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707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46BD-1F63-0E7E-6F1B-5C3BF61D8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4 - CSDL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D0C97-5878-57B4-B5AC-8F95E668A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ItemsModel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(String):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(String):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"Espresso", "Matcha Latte").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escription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(String):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icUrl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(String):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(URL)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Storage.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rice (Double):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(Double):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C2796-3649-C584-EBA7-D3344C26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139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DADA-A2A6-2D2F-1052-26CAE5C5F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4 - CSDL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D096B-47FE-CF1D-25F8-CF6999AB9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OrderModel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(String):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(String): Email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(List): Danh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(Double):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(String):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(Pending, Processing, Completed).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 (Long):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492E7-ED80-C9BC-A6E0-8B0870D8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534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3F46-0DCD-55ED-A955-8B37E6AC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4 - CSDL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F3928-8178-4BCE-94A8-C1C5F162C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</a:p>
          <a:p>
            <a:pPr marL="0" indent="0">
              <a:buNone/>
            </a:pPr>
            <a:r>
              <a:rPr lang="en-US" dirty="0" err="1">
                <a:latin typeface="Time s New Roman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 s New Roman"/>
                <a:cs typeface="Times New Roman" panose="02020603050405020304" pitchFamily="18" charset="0"/>
              </a:rPr>
              <a:t> CSDL, </a:t>
            </a:r>
            <a:r>
              <a:rPr lang="en-US" dirty="0" err="1">
                <a:latin typeface="Time s New Roman"/>
              </a:rPr>
              <a:t>Hệ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thống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sử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dụng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cơ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sở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dữ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liệu</a:t>
            </a:r>
            <a:r>
              <a:rPr lang="en-US" dirty="0">
                <a:latin typeface="Time s New Roman"/>
              </a:rPr>
              <a:t> phi </a:t>
            </a:r>
            <a:r>
              <a:rPr lang="en-US" dirty="0" err="1">
                <a:latin typeface="Time s New Roman"/>
              </a:rPr>
              <a:t>quan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hệ</a:t>
            </a:r>
            <a:r>
              <a:rPr lang="en-US" dirty="0">
                <a:latin typeface="Time s New Roman"/>
              </a:rPr>
              <a:t> (NoSQL) </a:t>
            </a:r>
            <a:r>
              <a:rPr lang="en-US" b="1" dirty="0">
                <a:latin typeface="Time s New Roman"/>
              </a:rPr>
              <a:t>Firebase Realtime Database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với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cấu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trúc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cây</a:t>
            </a:r>
            <a:r>
              <a:rPr lang="en-US" dirty="0">
                <a:latin typeface="Time s New Roman"/>
              </a:rPr>
              <a:t> JSON </a:t>
            </a:r>
            <a:r>
              <a:rPr lang="en-US" dirty="0" err="1">
                <a:latin typeface="Time s New Roman"/>
              </a:rPr>
              <a:t>tối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ưu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hóa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cho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truy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vấn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tốc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độ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cao</a:t>
            </a:r>
            <a:endParaRPr lang="en-US" dirty="0">
              <a:latin typeface="Time s New Roman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64146-51F8-3ABD-D4B0-1E85C07D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73448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378F-3373-B4F0-F4DA-4A0EF619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 – Giới thiệu Code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E1567-9A2E-6903-0757-928D9A185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vi-VN" sz="3400" b="1" dirty="0">
                <a:latin typeface="Time s New Roman"/>
              </a:rPr>
              <a:t>C</a:t>
            </a:r>
            <a:r>
              <a:rPr lang="en-US" sz="3400" b="1" dirty="0">
                <a:latin typeface="Time s New Roman"/>
              </a:rPr>
              <a:t>ode </a:t>
            </a:r>
            <a:r>
              <a:rPr lang="en-US" sz="3400" b="1" dirty="0" err="1">
                <a:latin typeface="Time s New Roman"/>
              </a:rPr>
              <a:t>tiêu</a:t>
            </a:r>
            <a:r>
              <a:rPr lang="en-US" sz="3400" b="1" dirty="0">
                <a:latin typeface="Time s New Roman"/>
              </a:rPr>
              <a:t> </a:t>
            </a:r>
            <a:r>
              <a:rPr lang="en-US" sz="3400" b="1" dirty="0" err="1">
                <a:latin typeface="Time s New Roman"/>
              </a:rPr>
              <a:t>biểu</a:t>
            </a:r>
            <a:r>
              <a:rPr lang="en-US" sz="3400" b="1" dirty="0">
                <a:latin typeface="Time s New Roman"/>
              </a:rPr>
              <a:t> </a:t>
            </a:r>
            <a:r>
              <a:rPr lang="en-US" sz="3400" b="1" dirty="0" err="1">
                <a:latin typeface="Time s New Roman"/>
              </a:rPr>
              <a:t>để</a:t>
            </a:r>
            <a:r>
              <a:rPr lang="en-US" sz="3400" b="1" dirty="0">
                <a:latin typeface="Time s New Roman"/>
              </a:rPr>
              <a:t> </a:t>
            </a:r>
            <a:r>
              <a:rPr lang="en-US" sz="3400" b="1" dirty="0" err="1">
                <a:latin typeface="Time s New Roman"/>
              </a:rPr>
              <a:t>chứng</a:t>
            </a:r>
            <a:r>
              <a:rPr lang="en-US" sz="3400" b="1" dirty="0">
                <a:latin typeface="Time s New Roman"/>
              </a:rPr>
              <a:t> </a:t>
            </a:r>
            <a:r>
              <a:rPr lang="en-US" sz="3400" b="1" dirty="0" err="1">
                <a:latin typeface="Time s New Roman"/>
              </a:rPr>
              <a:t>minh</a:t>
            </a:r>
            <a:r>
              <a:rPr lang="en-US" sz="3400" b="1" dirty="0">
                <a:latin typeface="Time s New Roman"/>
              </a:rPr>
              <a:t> app </a:t>
            </a:r>
            <a:r>
              <a:rPr lang="en-US" sz="3400" b="1" dirty="0" err="1">
                <a:latin typeface="Time s New Roman"/>
              </a:rPr>
              <a:t>có</a:t>
            </a:r>
            <a:r>
              <a:rPr lang="en-US" sz="3400" b="1" dirty="0">
                <a:latin typeface="Time s New Roman"/>
              </a:rPr>
              <a:t> </a:t>
            </a:r>
            <a:r>
              <a:rPr lang="en-US" sz="3400" b="1" dirty="0" err="1">
                <a:latin typeface="Time s New Roman"/>
              </a:rPr>
              <a:t>kết</a:t>
            </a:r>
            <a:r>
              <a:rPr lang="en-US" sz="3400" b="1" dirty="0">
                <a:latin typeface="Time s New Roman"/>
              </a:rPr>
              <a:t> </a:t>
            </a:r>
            <a:r>
              <a:rPr lang="en-US" sz="3400" b="1" dirty="0" err="1">
                <a:latin typeface="Time s New Roman"/>
              </a:rPr>
              <a:t>nối</a:t>
            </a:r>
            <a:r>
              <a:rPr lang="en-US" sz="3400" b="1" dirty="0">
                <a:latin typeface="Time s New Roman"/>
              </a:rPr>
              <a:t> Backend </a:t>
            </a:r>
            <a:r>
              <a:rPr lang="en-US" sz="3400" b="1" dirty="0" err="1">
                <a:latin typeface="Time s New Roman"/>
              </a:rPr>
              <a:t>Đám</a:t>
            </a:r>
            <a:r>
              <a:rPr lang="en-US" sz="3400" b="1" dirty="0">
                <a:latin typeface="Time s New Roman"/>
              </a:rPr>
              <a:t> </a:t>
            </a:r>
            <a:r>
              <a:rPr lang="en-US" sz="3400" b="1" dirty="0" err="1">
                <a:latin typeface="Time s New Roman"/>
              </a:rPr>
              <a:t>mây</a:t>
            </a:r>
            <a:r>
              <a:rPr lang="en-US" sz="3400" b="1" dirty="0">
                <a:latin typeface="Time s New Roman"/>
              </a:rPr>
              <a:t> (Firebase):</a:t>
            </a:r>
            <a:endParaRPr lang="en-US" sz="3400" dirty="0">
              <a:latin typeface="Time s New Roman"/>
            </a:endParaRPr>
          </a:p>
          <a:p>
            <a:pPr marL="0" indent="0">
              <a:buNone/>
            </a:pPr>
            <a:r>
              <a:rPr lang="vi-VN" sz="3200" b="1" dirty="0">
                <a:latin typeface="Time s New Roman"/>
              </a:rPr>
              <a:t>- </a:t>
            </a:r>
            <a:r>
              <a:rPr lang="en-US" sz="3200" b="1" dirty="0" err="1">
                <a:latin typeface="Time s New Roman"/>
              </a:rPr>
              <a:t>Luồng</a:t>
            </a:r>
            <a:r>
              <a:rPr lang="en-US" sz="3200" b="1" dirty="0">
                <a:latin typeface="Time s New Roman"/>
              </a:rPr>
              <a:t> CRUD </a:t>
            </a:r>
            <a:r>
              <a:rPr lang="en-US" sz="3200" b="1" dirty="0" err="1">
                <a:latin typeface="Time s New Roman"/>
              </a:rPr>
              <a:t>món</a:t>
            </a:r>
            <a:r>
              <a:rPr lang="en-US" sz="3200" b="1" dirty="0">
                <a:latin typeface="Time s New Roman"/>
              </a:rPr>
              <a:t> </a:t>
            </a:r>
            <a:r>
              <a:rPr lang="en-US" sz="3200" b="1" dirty="0" err="1">
                <a:latin typeface="Time s New Roman"/>
              </a:rPr>
              <a:t>nước</a:t>
            </a:r>
            <a:r>
              <a:rPr lang="en-US" sz="3200" b="1" dirty="0">
                <a:latin typeface="Time s New Roman"/>
              </a:rPr>
              <a:t> (</a:t>
            </a:r>
            <a:r>
              <a:rPr lang="en-US" sz="3200" b="1" dirty="0" err="1">
                <a:latin typeface="Time s New Roman"/>
              </a:rPr>
              <a:t>Đồ</a:t>
            </a:r>
            <a:r>
              <a:rPr lang="en-US" sz="3200" b="1" dirty="0">
                <a:latin typeface="Time s New Roman"/>
              </a:rPr>
              <a:t> </a:t>
            </a:r>
            <a:r>
              <a:rPr lang="en-US" sz="3200" b="1" dirty="0" err="1">
                <a:latin typeface="Time s New Roman"/>
              </a:rPr>
              <a:t>uống</a:t>
            </a:r>
            <a:r>
              <a:rPr lang="en-US" sz="3200" b="1" dirty="0">
                <a:latin typeface="Time s New Roman"/>
              </a:rPr>
              <a:t>) qua Firebase: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người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dùng</a:t>
            </a:r>
            <a:r>
              <a:rPr lang="en-US" sz="3200" dirty="0">
                <a:latin typeface="Time s New Roman"/>
              </a:rPr>
              <a:t> (ADMIN) </a:t>
            </a:r>
            <a:r>
              <a:rPr lang="en-US" sz="3200" dirty="0" err="1">
                <a:latin typeface="Time s New Roman"/>
              </a:rPr>
              <a:t>nhập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thông</a:t>
            </a:r>
            <a:r>
              <a:rPr lang="en-US" sz="3200" dirty="0">
                <a:latin typeface="Time s New Roman"/>
              </a:rPr>
              <a:t> tin form </a:t>
            </a:r>
            <a:r>
              <a:rPr lang="en-US" sz="3200" dirty="0" err="1">
                <a:latin typeface="Time s New Roman"/>
              </a:rPr>
              <a:t>thêm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món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mới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và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chọn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ảnh</a:t>
            </a:r>
            <a:r>
              <a:rPr lang="en-US" sz="3200" dirty="0">
                <a:latin typeface="Time s New Roman"/>
              </a:rPr>
              <a:t> SDK </a:t>
            </a:r>
            <a:r>
              <a:rPr lang="en-US" sz="3200" dirty="0" err="1">
                <a:latin typeface="Time s New Roman"/>
              </a:rPr>
              <a:t>tải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ảnh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lên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b="1" dirty="0">
                <a:latin typeface="Time s New Roman"/>
              </a:rPr>
              <a:t>Firebase Storage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nhận</a:t>
            </a:r>
            <a:r>
              <a:rPr lang="en-US" sz="3200" dirty="0">
                <a:latin typeface="Time s New Roman"/>
              </a:rPr>
              <a:t> URL </a:t>
            </a:r>
            <a:r>
              <a:rPr lang="en-US" sz="3200" dirty="0" err="1">
                <a:latin typeface="Time s New Roman"/>
              </a:rPr>
              <a:t>tải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về</a:t>
            </a:r>
            <a:r>
              <a:rPr lang="en-US" sz="3200" dirty="0">
                <a:latin typeface="Time s New Roman"/>
              </a:rPr>
              <a:t> Lưu </a:t>
            </a:r>
            <a:r>
              <a:rPr lang="en-US" sz="3200" dirty="0" err="1">
                <a:latin typeface="Time s New Roman"/>
              </a:rPr>
              <a:t>dữ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liệu</a:t>
            </a:r>
            <a:r>
              <a:rPr lang="en-US" sz="3200" dirty="0">
                <a:latin typeface="Time s New Roman"/>
              </a:rPr>
              <a:t> JSON </a:t>
            </a:r>
            <a:r>
              <a:rPr lang="en-US" sz="3200" dirty="0" err="1">
                <a:latin typeface="Time s New Roman"/>
              </a:rPr>
              <a:t>trực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tiếp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vào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nút</a:t>
            </a:r>
            <a:r>
              <a:rPr lang="en-US" sz="3200" dirty="0">
                <a:latin typeface="Time s New Roman"/>
              </a:rPr>
              <a:t> products </a:t>
            </a:r>
            <a:r>
              <a:rPr lang="en-US" sz="3200" dirty="0" err="1">
                <a:latin typeface="Time s New Roman"/>
              </a:rPr>
              <a:t>trên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b="1" dirty="0">
                <a:latin typeface="Time s New Roman"/>
              </a:rPr>
              <a:t>Firebase Realtime Database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Trình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lắng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nghe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sự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kiện</a:t>
            </a:r>
            <a:r>
              <a:rPr lang="en-US" sz="3200" dirty="0">
                <a:latin typeface="Time s New Roman"/>
              </a:rPr>
              <a:t> (</a:t>
            </a:r>
            <a:r>
              <a:rPr lang="en-US" sz="3200" dirty="0" err="1">
                <a:latin typeface="Time s New Roman"/>
              </a:rPr>
              <a:t>ValueEventListener</a:t>
            </a:r>
            <a:r>
              <a:rPr lang="en-US" sz="3200" dirty="0">
                <a:latin typeface="Time s New Roman"/>
              </a:rPr>
              <a:t>) </a:t>
            </a:r>
            <a:r>
              <a:rPr lang="en-US" sz="3200" dirty="0" err="1">
                <a:latin typeface="Time s New Roman"/>
              </a:rPr>
              <a:t>trên</a:t>
            </a:r>
            <a:r>
              <a:rPr lang="en-US" sz="3200" dirty="0">
                <a:latin typeface="Time s New Roman"/>
              </a:rPr>
              <a:t> Client </a:t>
            </a:r>
            <a:r>
              <a:rPr lang="en-US" sz="3200" dirty="0" err="1">
                <a:latin typeface="Time s New Roman"/>
              </a:rPr>
              <a:t>nhận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diện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thay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đổi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tự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động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cập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nhật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thực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đơn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ngoài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trang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chủ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ngay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lập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tức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mà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không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cần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tải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lại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trang</a:t>
            </a:r>
            <a:r>
              <a:rPr lang="en-US" sz="3200" dirty="0">
                <a:latin typeface="Time s New Roman"/>
              </a:rPr>
              <a:t>. (</a:t>
            </a:r>
            <a:r>
              <a:rPr lang="en-US" sz="3200" dirty="0" err="1">
                <a:latin typeface="Time s New Roman"/>
              </a:rPr>
              <a:t>AddProductActivity.kt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FirebaseStorage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DatabaseReference.child</a:t>
            </a:r>
            <a:r>
              <a:rPr lang="en-US" sz="3200" dirty="0">
                <a:latin typeface="Time s New Roman"/>
              </a:rPr>
              <a:t>().</a:t>
            </a:r>
            <a:r>
              <a:rPr lang="en-US" sz="3200" dirty="0" err="1">
                <a:latin typeface="Time s New Roman"/>
              </a:rPr>
              <a:t>setValue</a:t>
            </a:r>
            <a:r>
              <a:rPr lang="en-US" sz="3200" dirty="0">
                <a:latin typeface="Time s New Roman"/>
              </a:rPr>
              <a:t>() </a:t>
            </a:r>
            <a:r>
              <a:rPr lang="en-US" sz="3200" dirty="0" err="1">
                <a:latin typeface="Time s New Roman"/>
              </a:rPr>
              <a:t>ValueEventListener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bảng</a:t>
            </a:r>
            <a:r>
              <a:rPr lang="en-US" sz="3200" dirty="0">
                <a:latin typeface="Time s New Roman"/>
              </a:rPr>
              <a:t> products </a:t>
            </a:r>
            <a:r>
              <a:rPr lang="en-US" sz="3200" dirty="0" err="1">
                <a:latin typeface="Time s New Roman"/>
              </a:rPr>
              <a:t>trên</a:t>
            </a:r>
            <a:r>
              <a:rPr lang="en-US" sz="3200" dirty="0">
                <a:latin typeface="Time s New Roman"/>
              </a:rPr>
              <a:t> Realtime Database)</a:t>
            </a:r>
          </a:p>
          <a:p>
            <a:pPr marL="0" indent="0">
              <a:buNone/>
            </a:pPr>
            <a:r>
              <a:rPr lang="vi-VN" sz="3200" b="1" dirty="0">
                <a:latin typeface="Time s New Roman"/>
              </a:rPr>
              <a:t>- </a:t>
            </a:r>
            <a:r>
              <a:rPr lang="en-US" sz="3200" b="1" dirty="0" err="1">
                <a:latin typeface="Time s New Roman"/>
              </a:rPr>
              <a:t>Luồng</a:t>
            </a:r>
            <a:r>
              <a:rPr lang="en-US" sz="3200" b="1" dirty="0">
                <a:latin typeface="Time s New Roman"/>
              </a:rPr>
              <a:t> </a:t>
            </a:r>
            <a:r>
              <a:rPr lang="en-US" sz="3200" b="1" dirty="0" err="1">
                <a:latin typeface="Time s New Roman"/>
              </a:rPr>
              <a:t>đăng</a:t>
            </a:r>
            <a:r>
              <a:rPr lang="en-US" sz="3200" b="1" dirty="0">
                <a:latin typeface="Time s New Roman"/>
              </a:rPr>
              <a:t> </a:t>
            </a:r>
            <a:r>
              <a:rPr lang="en-US" sz="3200" b="1" dirty="0" err="1">
                <a:latin typeface="Time s New Roman"/>
              </a:rPr>
              <a:t>nhập</a:t>
            </a:r>
            <a:r>
              <a:rPr lang="en-US" sz="3200" b="1" dirty="0">
                <a:latin typeface="Time s New Roman"/>
              </a:rPr>
              <a:t> </a:t>
            </a:r>
            <a:r>
              <a:rPr lang="en-US" sz="3200" b="1" dirty="0" err="1">
                <a:latin typeface="Time s New Roman"/>
              </a:rPr>
              <a:t>xác</a:t>
            </a:r>
            <a:r>
              <a:rPr lang="en-US" sz="3200" b="1" dirty="0">
                <a:latin typeface="Time s New Roman"/>
              </a:rPr>
              <a:t> </a:t>
            </a:r>
            <a:r>
              <a:rPr lang="en-US" sz="3200" b="1" dirty="0" err="1">
                <a:latin typeface="Time s New Roman"/>
              </a:rPr>
              <a:t>thực</a:t>
            </a:r>
            <a:r>
              <a:rPr lang="en-US" sz="3200" b="1" dirty="0">
                <a:latin typeface="Time s New Roman"/>
              </a:rPr>
              <a:t> qua Firebase Auth: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LoginActivity.kt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gọi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phương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thức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signInWithEmailAndPassword</a:t>
            </a:r>
            <a:r>
              <a:rPr lang="en-US" sz="3200" dirty="0">
                <a:latin typeface="Time s New Roman"/>
              </a:rPr>
              <a:t>() </a:t>
            </a:r>
            <a:r>
              <a:rPr lang="en-US" sz="3200" dirty="0" err="1">
                <a:latin typeface="Time s New Roman"/>
              </a:rPr>
              <a:t>của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b="1" dirty="0">
                <a:latin typeface="Time s New Roman"/>
              </a:rPr>
              <a:t>Firebase Authentication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Hệ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thống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đám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mây</a:t>
            </a:r>
            <a:r>
              <a:rPr lang="en-US" sz="3200" dirty="0">
                <a:latin typeface="Time s New Roman"/>
              </a:rPr>
              <a:t> Firebase </a:t>
            </a:r>
            <a:r>
              <a:rPr lang="en-US" sz="3200" dirty="0" err="1">
                <a:latin typeface="Time s New Roman"/>
              </a:rPr>
              <a:t>tự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động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kiểm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tra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mật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khẩu</a:t>
            </a:r>
            <a:r>
              <a:rPr lang="en-US" sz="3200" dirty="0">
                <a:latin typeface="Time s New Roman"/>
              </a:rPr>
              <a:t> an </a:t>
            </a:r>
            <a:r>
              <a:rPr lang="en-US" sz="3200" dirty="0" err="1">
                <a:latin typeface="Time s New Roman"/>
              </a:rPr>
              <a:t>toàn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Trả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về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phiên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đăng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nhập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cùng</a:t>
            </a:r>
            <a:r>
              <a:rPr lang="en-US" sz="3200" dirty="0">
                <a:latin typeface="Time s New Roman"/>
              </a:rPr>
              <a:t> Token </a:t>
            </a:r>
            <a:r>
              <a:rPr lang="en-US" sz="3200" dirty="0" err="1">
                <a:latin typeface="Time s New Roman"/>
              </a:rPr>
              <a:t>định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danh</a:t>
            </a:r>
            <a:r>
              <a:rPr lang="en-US" sz="3200" dirty="0">
                <a:latin typeface="Time s New Roman"/>
              </a:rPr>
              <a:t> (UID) App </a:t>
            </a:r>
            <a:r>
              <a:rPr lang="en-US" sz="3200" dirty="0" err="1">
                <a:latin typeface="Time s New Roman"/>
              </a:rPr>
              <a:t>dựa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vào</a:t>
            </a:r>
            <a:r>
              <a:rPr lang="en-US" sz="3200" dirty="0">
                <a:latin typeface="Time s New Roman"/>
              </a:rPr>
              <a:t> UID </a:t>
            </a:r>
            <a:r>
              <a:rPr lang="en-US" sz="3200" dirty="0" err="1">
                <a:latin typeface="Time s New Roman"/>
              </a:rPr>
              <a:t>truy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cập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nút</a:t>
            </a:r>
            <a:r>
              <a:rPr lang="en-US" sz="3200" dirty="0">
                <a:latin typeface="Time s New Roman"/>
              </a:rPr>
              <a:t> /users/{</a:t>
            </a:r>
            <a:r>
              <a:rPr lang="en-US" sz="3200" dirty="0" err="1">
                <a:latin typeface="Time s New Roman"/>
              </a:rPr>
              <a:t>uid</a:t>
            </a:r>
            <a:r>
              <a:rPr lang="en-US" sz="3200" dirty="0">
                <a:latin typeface="Time s New Roman"/>
              </a:rPr>
              <a:t>}/role </a:t>
            </a:r>
            <a:r>
              <a:rPr lang="en-US" sz="3200" dirty="0" err="1">
                <a:latin typeface="Time s New Roman"/>
              </a:rPr>
              <a:t>trên</a:t>
            </a:r>
            <a:r>
              <a:rPr lang="en-US" sz="3200" dirty="0">
                <a:latin typeface="Time s New Roman"/>
              </a:rPr>
              <a:t> Realtime Database </a:t>
            </a:r>
            <a:r>
              <a:rPr lang="en-US" sz="3200" dirty="0" err="1">
                <a:latin typeface="Time s New Roman"/>
              </a:rPr>
              <a:t>để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kiểm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tra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quyền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hạn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của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tài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khoản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và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chuyển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hướng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màn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hình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tương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ứng</a:t>
            </a:r>
            <a:r>
              <a:rPr lang="en-US" sz="3200" dirty="0">
                <a:latin typeface="Time s New Roman"/>
              </a:rPr>
              <a:t>. (</a:t>
            </a:r>
            <a:r>
              <a:rPr lang="en-US" sz="3200" dirty="0" err="1">
                <a:latin typeface="Time s New Roman"/>
              </a:rPr>
              <a:t>LoginActivity.kt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FirebaseAuth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FirebaseUser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nút</a:t>
            </a:r>
            <a:r>
              <a:rPr lang="en-US" sz="3200" dirty="0">
                <a:latin typeface="Time s New Roman"/>
              </a:rPr>
              <a:t> /users/{</a:t>
            </a:r>
            <a:r>
              <a:rPr lang="en-US" sz="3200" dirty="0" err="1">
                <a:latin typeface="Time s New Roman"/>
              </a:rPr>
              <a:t>uid</a:t>
            </a:r>
            <a:r>
              <a:rPr lang="en-US" sz="3200" dirty="0">
                <a:latin typeface="Time s New Roman"/>
              </a:rPr>
              <a:t>} </a:t>
            </a:r>
            <a:r>
              <a:rPr lang="en-US" sz="3200" dirty="0" err="1">
                <a:latin typeface="Time s New Roman"/>
              </a:rPr>
              <a:t>Phân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quyền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chuyển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màn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hình</a:t>
            </a:r>
            <a:r>
              <a:rPr lang="en-US" sz="3200" dirty="0">
                <a:latin typeface="Time s New Roman"/>
              </a:rPr>
              <a:t> </a:t>
            </a:r>
            <a:r>
              <a:rPr lang="en-US" sz="3200" dirty="0" err="1">
                <a:latin typeface="Time s New Roman"/>
              </a:rPr>
              <a:t>MainActivity.kt</a:t>
            </a:r>
            <a:r>
              <a:rPr lang="en-US" sz="3200" dirty="0">
                <a:latin typeface="Time s New Roman"/>
              </a:rPr>
              <a:t> / </a:t>
            </a:r>
            <a:r>
              <a:rPr lang="en-US" sz="3200" dirty="0" err="1">
                <a:latin typeface="Time s New Roman"/>
              </a:rPr>
              <a:t>AdminActivity.kt</a:t>
            </a:r>
            <a:r>
              <a:rPr lang="en-US" sz="3200" dirty="0">
                <a:latin typeface="Time s New Roman"/>
              </a:rPr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BD04D-4D37-EEDD-049E-0382DEC2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308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73C6-DFC6-A355-751D-109155F97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6 -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D44A2-19CB-CFC9-7CB9-DD8C35AD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656221" cy="3318936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Time s New Roman"/>
              </a:rPr>
              <a:t>Màn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Hình</a:t>
            </a:r>
            <a:r>
              <a:rPr lang="en-US" b="1" dirty="0">
                <a:latin typeface="Time s New Roman"/>
              </a:rPr>
              <a:t> Trang </a:t>
            </a:r>
            <a:r>
              <a:rPr lang="en-US" b="1" dirty="0" err="1">
                <a:latin typeface="Time s New Roman"/>
              </a:rPr>
              <a:t>Chủ</a:t>
            </a:r>
            <a:r>
              <a:rPr lang="en-US" b="1" dirty="0">
                <a:latin typeface="Time s New Roman"/>
              </a:rPr>
              <a:t> &amp; </a:t>
            </a:r>
            <a:r>
              <a:rPr lang="en-US" b="1" dirty="0" err="1">
                <a:latin typeface="Time s New Roman"/>
              </a:rPr>
              <a:t>Phân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Loại</a:t>
            </a:r>
            <a:r>
              <a:rPr lang="en-US" b="1" dirty="0">
                <a:latin typeface="Time s New Roman"/>
              </a:rPr>
              <a:t> Danh </a:t>
            </a:r>
            <a:r>
              <a:rPr lang="en-US" b="1" dirty="0" err="1">
                <a:latin typeface="Time s New Roman"/>
              </a:rPr>
              <a:t>Mục</a:t>
            </a:r>
            <a:endParaRPr lang="en-US" b="1" dirty="0">
              <a:latin typeface="Time s New Roman"/>
            </a:endParaRPr>
          </a:p>
          <a:p>
            <a:pPr marL="0" indent="0">
              <a:buNone/>
            </a:pPr>
            <a:r>
              <a:rPr lang="vi-VN" sz="2000" b="1" dirty="0">
                <a:latin typeface="Time s New Roman"/>
              </a:rPr>
              <a:t>- </a:t>
            </a:r>
            <a:r>
              <a:rPr lang="en-US" sz="2000" b="1" dirty="0" err="1">
                <a:latin typeface="Time s New Roman"/>
              </a:rPr>
              <a:t>Thiết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kế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chào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đón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trực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quan:</a:t>
            </a:r>
            <a:r>
              <a:rPr lang="en-US" sz="2000" dirty="0" err="1">
                <a:latin typeface="Time s New Roman"/>
              </a:rPr>
              <a:t>Hiển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thị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thông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điệp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chào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buổi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sáng</a:t>
            </a:r>
            <a:r>
              <a:rPr lang="en-US" sz="2000" dirty="0">
                <a:latin typeface="Time s New Roman"/>
              </a:rPr>
              <a:t> "Good Morning" </a:t>
            </a:r>
            <a:r>
              <a:rPr lang="en-US" sz="2000" dirty="0" err="1">
                <a:latin typeface="Time s New Roman"/>
              </a:rPr>
              <a:t>đi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kèm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hiệu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ứng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nền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kính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mờ</a:t>
            </a:r>
            <a:r>
              <a:rPr lang="en-US" sz="2000" dirty="0">
                <a:latin typeface="Time s New Roman"/>
              </a:rPr>
              <a:t> (</a:t>
            </a:r>
            <a:r>
              <a:rPr lang="en-US" sz="2000" dirty="0" err="1">
                <a:latin typeface="Time s New Roman"/>
              </a:rPr>
              <a:t>Glassmorphism</a:t>
            </a:r>
            <a:r>
              <a:rPr lang="en-US" sz="2000" dirty="0">
                <a:latin typeface="Time s New Roman"/>
              </a:rPr>
              <a:t>) </a:t>
            </a:r>
            <a:r>
              <a:rPr lang="en-US" sz="2000" dirty="0" err="1">
                <a:latin typeface="Time s New Roman"/>
              </a:rPr>
              <a:t>tạo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cảm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giác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hiện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đại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và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ấm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áp</a:t>
            </a:r>
            <a:r>
              <a:rPr lang="en-US" sz="2000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sz="2000" b="1" dirty="0">
                <a:latin typeface="Time s New Roman"/>
              </a:rPr>
              <a:t>- </a:t>
            </a:r>
            <a:r>
              <a:rPr lang="en-US" sz="2000" b="1" dirty="0" err="1">
                <a:latin typeface="Time s New Roman"/>
              </a:rPr>
              <a:t>Hệ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thống</a:t>
            </a:r>
            <a:r>
              <a:rPr lang="en-US" sz="2000" b="1" dirty="0">
                <a:latin typeface="Time s New Roman"/>
              </a:rPr>
              <a:t> 9 </a:t>
            </a:r>
            <a:r>
              <a:rPr lang="en-US" sz="2000" b="1" dirty="0" err="1">
                <a:latin typeface="Time s New Roman"/>
              </a:rPr>
              <a:t>nhóm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thực</a:t>
            </a:r>
            <a:r>
              <a:rPr lang="en-US" sz="2000" b="1" dirty="0">
                <a:latin typeface="Time s New Roman"/>
              </a:rPr>
              <a:t> </a:t>
            </a:r>
            <a:r>
              <a:rPr lang="en-US" sz="2000" b="1" dirty="0" err="1">
                <a:latin typeface="Time s New Roman"/>
              </a:rPr>
              <a:t>đơn:</a:t>
            </a:r>
            <a:r>
              <a:rPr lang="en-US" sz="2000" dirty="0" err="1">
                <a:latin typeface="Time s New Roman"/>
              </a:rPr>
              <a:t>Giúp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khách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hàng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dễ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dàng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chuyển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đổi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nhanh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chóng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giữa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các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danh</a:t>
            </a:r>
            <a:r>
              <a:rPr lang="en-US" sz="2000" dirty="0">
                <a:latin typeface="Time s New Roman"/>
              </a:rPr>
              <a:t> </a:t>
            </a:r>
            <a:r>
              <a:rPr lang="en-US" sz="2000" dirty="0" err="1">
                <a:latin typeface="Time s New Roman"/>
              </a:rPr>
              <a:t>mục</a:t>
            </a:r>
            <a:r>
              <a:rPr lang="en-US" sz="2000" dirty="0">
                <a:latin typeface="Time s New Roman"/>
              </a:rPr>
              <a:t>: *Ice Drink, hot Drink, Hot Coffee, Ice Coffee, Brewing Coffee, Shake, Restaurant, Breakfast, Cake*.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DC0C2-AF99-DA75-81CA-30A4E068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15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66BDE-BB37-BEC3-4EA5-C4E273DFB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341" y="2720543"/>
            <a:ext cx="2194560" cy="299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50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CD09-D12D-D2B8-ECF6-63D3772A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6 -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FD8A6-DCB6-08C4-2543-7B6AE814E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758634" cy="33189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 s New Roman"/>
              </a:rPr>
              <a:t>Danh </a:t>
            </a:r>
            <a:r>
              <a:rPr lang="en-US" b="1" dirty="0" err="1">
                <a:latin typeface="Time s New Roman"/>
              </a:rPr>
              <a:t>Mục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Đồ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Uống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Lạnh</a:t>
            </a:r>
            <a:r>
              <a:rPr lang="en-US" b="1" dirty="0">
                <a:latin typeface="Time s New Roman"/>
              </a:rPr>
              <a:t> - Ice Drink</a:t>
            </a:r>
            <a:endParaRPr lang="vi-VN" b="1" dirty="0">
              <a:latin typeface="Time s New Roman"/>
            </a:endParaRP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>
                <a:latin typeface="Time s New Roman"/>
              </a:rPr>
              <a:t>Pumpkin Latte (110.000 VND):</a:t>
            </a:r>
            <a:r>
              <a:rPr lang="vi-VN" sz="2200" b="1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Vị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ngon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độc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đáo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từ</a:t>
            </a:r>
            <a:r>
              <a:rPr lang="en-US" sz="2200" dirty="0">
                <a:latin typeface="Time s New Roman"/>
              </a:rPr>
              <a:t> espresso, </a:t>
            </a:r>
            <a:r>
              <a:rPr lang="en-US" sz="2200" dirty="0" err="1">
                <a:latin typeface="Time s New Roman"/>
              </a:rPr>
              <a:t>bí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đỏ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béo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mịn</a:t>
            </a:r>
            <a:r>
              <a:rPr lang="en-US" sz="2200" dirty="0">
                <a:latin typeface="Time s New Roman"/>
              </a:rPr>
              <a:t>, </a:t>
            </a:r>
            <a:r>
              <a:rPr lang="en-US" sz="2200" dirty="0" err="1">
                <a:latin typeface="Time s New Roman"/>
              </a:rPr>
              <a:t>sữa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tươi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và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chút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hương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quế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đặc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trưng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mùa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thu</a:t>
            </a:r>
            <a:r>
              <a:rPr lang="en-US" sz="2200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>
                <a:latin typeface="Time s New Roman"/>
              </a:rPr>
              <a:t>Matcha Latte (125.000 VND):</a:t>
            </a:r>
            <a:r>
              <a:rPr lang="vi-VN" sz="2200" b="1" dirty="0">
                <a:latin typeface="Time s New Roman"/>
              </a:rPr>
              <a:t> </a:t>
            </a:r>
            <a:r>
              <a:rPr lang="en-US" sz="2200" dirty="0">
                <a:latin typeface="Time s New Roman"/>
              </a:rPr>
              <a:t>Matcha Nhật </a:t>
            </a:r>
            <a:r>
              <a:rPr lang="en-US" sz="2200" dirty="0" err="1">
                <a:latin typeface="Time s New Roman"/>
              </a:rPr>
              <a:t>Bản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nguyên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chất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hòa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quyện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mượt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mà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với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sữa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béo</a:t>
            </a:r>
            <a:r>
              <a:rPr lang="en-US" sz="2200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 err="1">
                <a:latin typeface="Time s New Roman"/>
              </a:rPr>
              <a:t>Tải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hình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ảnh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hiệu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năng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cao</a:t>
            </a:r>
            <a:r>
              <a:rPr lang="en-US" sz="2200" b="1" dirty="0">
                <a:latin typeface="Time s New Roman"/>
              </a:rPr>
              <a:t>:</a:t>
            </a:r>
            <a:r>
              <a:rPr lang="vi-VN" sz="2200" b="1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Tích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hợp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cơ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chế</a:t>
            </a:r>
            <a:r>
              <a:rPr lang="en-US" sz="2200" dirty="0">
                <a:latin typeface="Time s New Roman"/>
              </a:rPr>
              <a:t> cache </a:t>
            </a:r>
            <a:r>
              <a:rPr lang="en-US" sz="2200" dirty="0" err="1">
                <a:latin typeface="Time s New Roman"/>
              </a:rPr>
              <a:t>thông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minh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giúp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cuộn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danh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sách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mượt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mà</a:t>
            </a:r>
            <a:r>
              <a:rPr lang="en-US" sz="2200" dirty="0">
                <a:latin typeface="Time s New Roman"/>
              </a:rPr>
              <a:t>, </a:t>
            </a:r>
            <a:r>
              <a:rPr lang="en-US" sz="2200" dirty="0" err="1">
                <a:latin typeface="Time s New Roman"/>
              </a:rPr>
              <a:t>không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giật</a:t>
            </a:r>
            <a:r>
              <a:rPr lang="en-US" sz="2200" dirty="0">
                <a:latin typeface="Time s New Roman"/>
              </a:rPr>
              <a:t> lag.</a:t>
            </a:r>
          </a:p>
          <a:p>
            <a:pPr marL="0" indent="0">
              <a:buNone/>
            </a:pPr>
            <a:endParaRPr lang="en-US" b="1" dirty="0">
              <a:latin typeface="Time 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68DE-C8AA-3893-E158-5D7A6D07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16</a:t>
            </a:fld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DACEA9-8457-9FE8-1463-D11D7FAAB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286" y="2712540"/>
            <a:ext cx="2131616" cy="300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2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9E1E-7B76-CC7C-F82F-9EE49853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6 -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95727-C543-680A-6361-479C4DF04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319722" cy="33189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000" b="1" dirty="0">
                <a:latin typeface="Time s New Roman"/>
              </a:rPr>
              <a:t>Danh </a:t>
            </a:r>
            <a:r>
              <a:rPr lang="en-US" sz="3000" b="1" dirty="0" err="1">
                <a:latin typeface="Time s New Roman"/>
              </a:rPr>
              <a:t>Mục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Đồ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Uống</a:t>
            </a:r>
            <a:r>
              <a:rPr lang="en-US" sz="3000" b="1" dirty="0">
                <a:latin typeface="Time s New Roman"/>
              </a:rPr>
              <a:t> Trà &amp; </a:t>
            </a:r>
            <a:r>
              <a:rPr lang="en-US" sz="3000" b="1" dirty="0" err="1">
                <a:latin typeface="Time s New Roman"/>
              </a:rPr>
              <a:t>Nước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Trái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Cây</a:t>
            </a:r>
            <a:endParaRPr lang="vi-VN" sz="3000" b="1" dirty="0">
              <a:latin typeface="Time s New Roman"/>
            </a:endParaRP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>
                <a:latin typeface="Time s New Roman"/>
              </a:rPr>
              <a:t>Naranja (30.000 VND):</a:t>
            </a:r>
            <a:r>
              <a:rPr lang="vi-VN" sz="2200" b="1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Nước</a:t>
            </a:r>
            <a:r>
              <a:rPr lang="en-US" sz="2200" dirty="0">
                <a:latin typeface="Time s New Roman"/>
              </a:rPr>
              <a:t> cam </a:t>
            </a:r>
            <a:r>
              <a:rPr lang="en-US" sz="2200" dirty="0" err="1">
                <a:latin typeface="Time s New Roman"/>
              </a:rPr>
              <a:t>tươi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mát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lạnh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tự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nhiên</a:t>
            </a:r>
            <a:r>
              <a:rPr lang="en-US" sz="2200" dirty="0">
                <a:latin typeface="Time s New Roman"/>
              </a:rPr>
              <a:t>, </a:t>
            </a:r>
            <a:r>
              <a:rPr lang="en-US" sz="2200" dirty="0" err="1">
                <a:latin typeface="Time s New Roman"/>
              </a:rPr>
              <a:t>dồi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dào</a:t>
            </a:r>
            <a:r>
              <a:rPr lang="en-US" sz="2200" dirty="0">
                <a:latin typeface="Time s New Roman"/>
              </a:rPr>
              <a:t> Vitamin C.</a:t>
            </a: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>
                <a:latin typeface="Time s New Roman"/>
              </a:rPr>
              <a:t>Mojito Chanh </a:t>
            </a:r>
            <a:r>
              <a:rPr lang="en-US" sz="2200" b="1" dirty="0" err="1">
                <a:latin typeface="Time s New Roman"/>
              </a:rPr>
              <a:t>Bạc</a:t>
            </a:r>
            <a:r>
              <a:rPr lang="en-US" sz="2200" b="1" dirty="0">
                <a:latin typeface="Time s New Roman"/>
              </a:rPr>
              <a:t> Hà (120.000 VND):</a:t>
            </a:r>
            <a:r>
              <a:rPr lang="vi-VN" sz="2200" b="1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Sự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kết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hợp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hoàn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hảo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giữa</a:t>
            </a:r>
            <a:r>
              <a:rPr lang="en-US" sz="2200" dirty="0">
                <a:latin typeface="Time s New Roman"/>
              </a:rPr>
              <a:t> soda </a:t>
            </a:r>
            <a:r>
              <a:rPr lang="en-US" sz="2200" dirty="0" err="1">
                <a:latin typeface="Time s New Roman"/>
              </a:rPr>
              <a:t>sủi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bọt</a:t>
            </a:r>
            <a:r>
              <a:rPr lang="en-US" sz="2200" dirty="0">
                <a:latin typeface="Time s New Roman"/>
              </a:rPr>
              <a:t>, </a:t>
            </a:r>
            <a:r>
              <a:rPr lang="en-US" sz="2200" dirty="0" err="1">
                <a:latin typeface="Time s New Roman"/>
              </a:rPr>
              <a:t>chanh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tươi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và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lá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bạc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hà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thanh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mát</a:t>
            </a:r>
            <a:r>
              <a:rPr lang="en-US" sz="2200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 err="1">
                <a:latin typeface="Time s New Roman"/>
              </a:rPr>
              <a:t>Thiết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kế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dạng</a:t>
            </a:r>
            <a:r>
              <a:rPr lang="en-US" sz="2200" b="1" dirty="0">
                <a:latin typeface="Time s New Roman"/>
              </a:rPr>
              <a:t> Card View:</a:t>
            </a:r>
            <a:r>
              <a:rPr lang="vi-VN" sz="2200" b="1" dirty="0">
                <a:latin typeface="Time s New Roman"/>
              </a:rPr>
              <a:t> </a:t>
            </a:r>
            <a:r>
              <a:rPr lang="en-US" sz="2200" dirty="0">
                <a:latin typeface="Time s New Roman"/>
              </a:rPr>
              <a:t>Các </a:t>
            </a:r>
            <a:r>
              <a:rPr lang="en-US" sz="2200" dirty="0" err="1">
                <a:latin typeface="Time s New Roman"/>
              </a:rPr>
              <a:t>thẻ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hiển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thị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thông</a:t>
            </a:r>
            <a:r>
              <a:rPr lang="en-US" sz="2200" dirty="0">
                <a:latin typeface="Time s New Roman"/>
              </a:rPr>
              <a:t> tin </a:t>
            </a:r>
            <a:r>
              <a:rPr lang="en-US" sz="2200" dirty="0" err="1">
                <a:latin typeface="Time s New Roman"/>
              </a:rPr>
              <a:t>giá</a:t>
            </a:r>
            <a:r>
              <a:rPr lang="en-US" sz="2200" dirty="0">
                <a:latin typeface="Time s New Roman"/>
              </a:rPr>
              <a:t>, </a:t>
            </a:r>
            <a:r>
              <a:rPr lang="en-US" sz="2200" dirty="0" err="1">
                <a:latin typeface="Time s New Roman"/>
              </a:rPr>
              <a:t>ảnh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sản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phẩm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rõ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nét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nổi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bật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trên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nền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tối</a:t>
            </a:r>
            <a:r>
              <a:rPr lang="en-US" sz="2200" dirty="0">
                <a:latin typeface="Time s New Roman"/>
              </a:rPr>
              <a:t>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7762E-94C6-A7BC-9F84-7E20EB6F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17</a:t>
            </a:fld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1167BD-C529-C1F2-E7DE-2875BF28B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393" y="2724911"/>
            <a:ext cx="2175507" cy="315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8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2B7E-8143-98C2-3EE6-D9452C3A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6 -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0DB8-0DD4-18B4-436E-0B2F78E08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466025" cy="33189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latin typeface="Time s New Roman"/>
              </a:rPr>
              <a:t>Hương </a:t>
            </a:r>
            <a:r>
              <a:rPr lang="en-US" sz="3000" b="1" dirty="0" err="1">
                <a:latin typeface="Time s New Roman"/>
              </a:rPr>
              <a:t>Vị</a:t>
            </a:r>
            <a:r>
              <a:rPr lang="en-US" sz="3000" b="1" dirty="0">
                <a:latin typeface="Time s New Roman"/>
              </a:rPr>
              <a:t> Trà Thảo </a:t>
            </a:r>
            <a:r>
              <a:rPr lang="en-US" sz="3000" b="1" dirty="0" err="1">
                <a:latin typeface="Time s New Roman"/>
              </a:rPr>
              <a:t>Mộc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Truyền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Thống</a:t>
            </a:r>
            <a:endParaRPr lang="en-US" sz="3000" b="1" dirty="0">
              <a:latin typeface="Time s New Roman"/>
            </a:endParaRP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	</a:t>
            </a:r>
            <a:r>
              <a:rPr lang="en-US" b="1" dirty="0" err="1">
                <a:latin typeface="Time s New Roman"/>
              </a:rPr>
              <a:t>Sự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kết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hợp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tinh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túy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từ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các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loại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thảo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mộc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tốt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cho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sức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khỏe</a:t>
            </a:r>
            <a:r>
              <a:rPr lang="en-US" b="1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>
                <a:latin typeface="Time s New Roman"/>
              </a:rPr>
              <a:t>Victoria Sunset Herbal Tea (90.000 VND):</a:t>
            </a:r>
            <a:r>
              <a:rPr lang="en-US" dirty="0">
                <a:latin typeface="Time s New Roman"/>
              </a:rPr>
              <a:t>Hương </a:t>
            </a:r>
            <a:r>
              <a:rPr lang="en-US" dirty="0" err="1">
                <a:latin typeface="Time s New Roman"/>
              </a:rPr>
              <a:t>thơm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nhẹ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nhàng</a:t>
            </a:r>
            <a:r>
              <a:rPr lang="en-US" dirty="0">
                <a:latin typeface="Time s New Roman"/>
              </a:rPr>
              <a:t>, </a:t>
            </a:r>
            <a:r>
              <a:rPr lang="en-US" dirty="0" err="1">
                <a:latin typeface="Time s New Roman"/>
              </a:rPr>
              <a:t>thư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giãn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tinh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thần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từ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hoa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quả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sấy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khô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thượng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hạng</a:t>
            </a:r>
            <a:r>
              <a:rPr lang="en-US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>
                <a:latin typeface="Time s New Roman"/>
              </a:rPr>
              <a:t>Simple Tea &amp; Green Tea (20.000 - 30.000 VND):</a:t>
            </a:r>
            <a:r>
              <a:rPr lang="en-US" dirty="0" err="1">
                <a:latin typeface="Time s New Roman"/>
              </a:rPr>
              <a:t>Lựa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chọn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trà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ấm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cổ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điển</a:t>
            </a:r>
            <a:r>
              <a:rPr lang="en-US" dirty="0">
                <a:latin typeface="Time s New Roman"/>
              </a:rPr>
              <a:t>, </a:t>
            </a:r>
            <a:r>
              <a:rPr lang="en-US" dirty="0" err="1">
                <a:latin typeface="Time s New Roman"/>
              </a:rPr>
              <a:t>bổ</a:t>
            </a:r>
            <a:r>
              <a:rPr lang="en-US" dirty="0">
                <a:latin typeface="Time s New Roman"/>
              </a:rPr>
              <a:t> sung </a:t>
            </a:r>
            <a:r>
              <a:rPr lang="en-US" dirty="0" err="1">
                <a:latin typeface="Time s New Roman"/>
              </a:rPr>
              <a:t>năng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lượng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tỉnh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táo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cho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ngày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làm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việc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mới</a:t>
            </a:r>
            <a:r>
              <a:rPr lang="en-US" dirty="0">
                <a:latin typeface="Time s New Roman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A974D-22CC-3C65-9A88-A552BBFC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18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004715-DBB7-ACBF-94C0-AAF201F1C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915" y="2823668"/>
            <a:ext cx="2116986" cy="305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30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0AA0-1751-89DE-CA7B-1FB34BE9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6 -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6901C-C124-73E3-4C23-CF327B70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378243" cy="33189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 err="1">
                <a:latin typeface="Time s New Roman"/>
              </a:rPr>
              <a:t>Màn</a:t>
            </a:r>
            <a:r>
              <a:rPr lang="en-US" sz="2800" b="1" dirty="0">
                <a:latin typeface="Time s New Roman"/>
              </a:rPr>
              <a:t> </a:t>
            </a:r>
            <a:r>
              <a:rPr lang="en-US" sz="2800" b="1" dirty="0" err="1">
                <a:latin typeface="Time s New Roman"/>
              </a:rPr>
              <a:t>Hình</a:t>
            </a:r>
            <a:r>
              <a:rPr lang="en-US" sz="2800" b="1" dirty="0">
                <a:latin typeface="Time s New Roman"/>
              </a:rPr>
              <a:t> </a:t>
            </a:r>
            <a:r>
              <a:rPr lang="en-US" sz="2800" b="1" dirty="0" err="1">
                <a:latin typeface="Time s New Roman"/>
              </a:rPr>
              <a:t>Giỏ</a:t>
            </a:r>
            <a:r>
              <a:rPr lang="en-US" sz="2800" b="1" dirty="0">
                <a:latin typeface="Time s New Roman"/>
              </a:rPr>
              <a:t> </a:t>
            </a:r>
            <a:r>
              <a:rPr lang="en-US" sz="2800" b="1" dirty="0" err="1">
                <a:latin typeface="Time s New Roman"/>
              </a:rPr>
              <a:t>Hàng</a:t>
            </a:r>
            <a:r>
              <a:rPr lang="en-US" sz="2800" b="1" dirty="0">
                <a:latin typeface="Time s New Roman"/>
              </a:rPr>
              <a:t> &amp; </a:t>
            </a:r>
            <a:r>
              <a:rPr lang="en-US" sz="2800" b="1" dirty="0" err="1">
                <a:latin typeface="Time s New Roman"/>
              </a:rPr>
              <a:t>Tính</a:t>
            </a:r>
            <a:r>
              <a:rPr lang="en-US" sz="2800" b="1" dirty="0">
                <a:latin typeface="Time s New Roman"/>
              </a:rPr>
              <a:t> </a:t>
            </a:r>
            <a:r>
              <a:rPr lang="en-US" sz="2800" b="1" dirty="0" err="1">
                <a:latin typeface="Time s New Roman"/>
              </a:rPr>
              <a:t>Toán</a:t>
            </a:r>
            <a:r>
              <a:rPr lang="en-US" sz="2800" b="1" dirty="0">
                <a:latin typeface="Time s New Roman"/>
              </a:rPr>
              <a:t> Chi </a:t>
            </a:r>
            <a:r>
              <a:rPr lang="en-US" sz="2800" b="1" dirty="0" err="1">
                <a:latin typeface="Time s New Roman"/>
              </a:rPr>
              <a:t>Phí</a:t>
            </a:r>
            <a:endParaRPr lang="vi-VN" sz="2800" b="1" dirty="0">
              <a:latin typeface="Time s New Roman"/>
            </a:endParaRP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	</a:t>
            </a:r>
            <a:r>
              <a:rPr lang="en-US" sz="2200" b="1" dirty="0">
                <a:latin typeface="Time s New Roman"/>
              </a:rPr>
              <a:t>Quản </a:t>
            </a:r>
            <a:r>
              <a:rPr lang="en-US" sz="2200" b="1" dirty="0" err="1">
                <a:latin typeface="Time s New Roman"/>
              </a:rPr>
              <a:t>lý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linh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hoạt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danh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sách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đồ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uống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lựa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chọn</a:t>
            </a:r>
            <a:r>
              <a:rPr lang="en-US" sz="2200" b="1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 err="1">
                <a:latin typeface="Time s New Roman"/>
              </a:rPr>
              <a:t>Tăng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giảm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số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lượng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trực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tiếp:</a:t>
            </a:r>
            <a:r>
              <a:rPr lang="en-US" sz="2200" dirty="0" err="1">
                <a:latin typeface="Time s New Roman"/>
              </a:rPr>
              <a:t>Nút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bấm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cộng</a:t>
            </a:r>
            <a:r>
              <a:rPr lang="en-US" sz="2200" dirty="0">
                <a:latin typeface="Time s New Roman"/>
              </a:rPr>
              <a:t>/</a:t>
            </a:r>
            <a:r>
              <a:rPr lang="en-US" sz="2200" dirty="0" err="1">
                <a:latin typeface="Time s New Roman"/>
              </a:rPr>
              <a:t>trừ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tích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hợp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ngay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trong</a:t>
            </a:r>
            <a:r>
              <a:rPr lang="en-US" sz="2200" dirty="0">
                <a:latin typeface="Time s New Roman"/>
              </a:rPr>
              <a:t> ô </a:t>
            </a:r>
            <a:r>
              <a:rPr lang="en-US" sz="2200" dirty="0" err="1">
                <a:latin typeface="Time s New Roman"/>
              </a:rPr>
              <a:t>sản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phẩm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giúp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cập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nhật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số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lượng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lập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tức</a:t>
            </a:r>
            <a:r>
              <a:rPr lang="en-US" sz="2200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sz="2200" b="1" dirty="0">
                <a:latin typeface="Time s New Roman"/>
              </a:rPr>
              <a:t>- </a:t>
            </a:r>
            <a:r>
              <a:rPr lang="en-US" sz="2200" b="1" dirty="0" err="1">
                <a:latin typeface="Time s New Roman"/>
              </a:rPr>
              <a:t>Phân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tách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tài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chính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tự</a:t>
            </a:r>
            <a:r>
              <a:rPr lang="en-US" sz="2200" b="1" dirty="0">
                <a:latin typeface="Time s New Roman"/>
              </a:rPr>
              <a:t> </a:t>
            </a:r>
            <a:r>
              <a:rPr lang="en-US" sz="2200" b="1" dirty="0" err="1">
                <a:latin typeface="Time s New Roman"/>
              </a:rPr>
              <a:t>động:</a:t>
            </a:r>
            <a:r>
              <a:rPr lang="en-US" sz="2200" dirty="0" err="1">
                <a:latin typeface="Time s New Roman"/>
              </a:rPr>
              <a:t>Tính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toán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rõ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ràng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giữa</a:t>
            </a:r>
            <a:r>
              <a:rPr lang="en-US" sz="2200" dirty="0">
                <a:latin typeface="Time s New Roman"/>
              </a:rPr>
              <a:t> *</a:t>
            </a:r>
            <a:r>
              <a:rPr lang="en-US" sz="2200" dirty="0" err="1">
                <a:latin typeface="Time s New Roman"/>
              </a:rPr>
              <a:t>Tổng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tiền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hàng</a:t>
            </a:r>
            <a:r>
              <a:rPr lang="en-US" sz="2200" dirty="0">
                <a:latin typeface="Time s New Roman"/>
              </a:rPr>
              <a:t> (330.000 VND) + </a:t>
            </a:r>
            <a:r>
              <a:rPr lang="en-US" sz="2200" dirty="0" err="1">
                <a:latin typeface="Time s New Roman"/>
              </a:rPr>
              <a:t>Phí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vận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chuyển</a:t>
            </a:r>
            <a:r>
              <a:rPr lang="en-US" sz="2200" dirty="0">
                <a:latin typeface="Time s New Roman"/>
              </a:rPr>
              <a:t> (15.000 VND)* </a:t>
            </a:r>
            <a:r>
              <a:rPr lang="en-US" sz="2200" dirty="0" err="1">
                <a:latin typeface="Time s New Roman"/>
              </a:rPr>
              <a:t>để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đưa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ra</a:t>
            </a:r>
            <a:r>
              <a:rPr lang="en-US" sz="2200" dirty="0">
                <a:latin typeface="Time s New Roman"/>
              </a:rPr>
              <a:t> con </a:t>
            </a:r>
            <a:r>
              <a:rPr lang="en-US" sz="2200" dirty="0" err="1">
                <a:latin typeface="Time s New Roman"/>
              </a:rPr>
              <a:t>số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chính</a:t>
            </a:r>
            <a:r>
              <a:rPr lang="en-US" sz="2200" dirty="0">
                <a:latin typeface="Time s New Roman"/>
              </a:rPr>
              <a:t> </a:t>
            </a:r>
            <a:r>
              <a:rPr lang="en-US" sz="2200" dirty="0" err="1">
                <a:latin typeface="Time s New Roman"/>
              </a:rPr>
              <a:t>xác</a:t>
            </a:r>
            <a:r>
              <a:rPr lang="en-US" sz="2200" dirty="0">
                <a:latin typeface="Time s New Roman"/>
              </a:rPr>
              <a:t> **345.000 VND**.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07B2F-CFC8-DD97-A80E-883A6DBA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19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F129C-60E2-4B6A-186A-5FB229328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123" y="2694939"/>
            <a:ext cx="2106778" cy="318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72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7C41-9E6D-EC93-EF73-E13B1E5F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6 -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C42AA-4374-B772-84A4-975344AA6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932017" cy="33189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 err="1">
                <a:latin typeface="Time s New Roman"/>
              </a:rPr>
              <a:t>Màn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Hình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Xác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Nhận</a:t>
            </a:r>
            <a:r>
              <a:rPr lang="en-US" sz="3000" b="1" dirty="0">
                <a:latin typeface="Time s New Roman"/>
              </a:rPr>
              <a:t> Thông Tin </a:t>
            </a:r>
            <a:r>
              <a:rPr lang="en-US" sz="3000" b="1" dirty="0" err="1">
                <a:latin typeface="Time s New Roman"/>
              </a:rPr>
              <a:t>Đơn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Hàng</a:t>
            </a:r>
            <a:endParaRPr lang="en-US" sz="3000" b="1" dirty="0">
              <a:latin typeface="Time s New Roman"/>
            </a:endParaRP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	</a:t>
            </a:r>
            <a:r>
              <a:rPr lang="en-US" b="1" dirty="0" err="1">
                <a:latin typeface="Time s New Roman"/>
              </a:rPr>
              <a:t>Nhập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thông</a:t>
            </a:r>
            <a:r>
              <a:rPr lang="en-US" b="1" dirty="0">
                <a:latin typeface="Time s New Roman"/>
              </a:rPr>
              <a:t> tin </a:t>
            </a:r>
            <a:r>
              <a:rPr lang="en-US" b="1" dirty="0" err="1">
                <a:latin typeface="Time s New Roman"/>
              </a:rPr>
              <a:t>giao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nhận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và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lựa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chọn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thanh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toán</a:t>
            </a:r>
            <a:r>
              <a:rPr lang="en-US" b="1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>
                <a:latin typeface="Time s New Roman"/>
              </a:rPr>
              <a:t>Thu </a:t>
            </a:r>
            <a:r>
              <a:rPr lang="en-US" b="1" dirty="0" err="1">
                <a:latin typeface="Time s New Roman"/>
              </a:rPr>
              <a:t>thập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thông</a:t>
            </a:r>
            <a:r>
              <a:rPr lang="en-US" b="1" dirty="0">
                <a:latin typeface="Time s New Roman"/>
              </a:rPr>
              <a:t> tin </a:t>
            </a:r>
            <a:r>
              <a:rPr lang="en-US" b="1" dirty="0" err="1">
                <a:latin typeface="Time s New Roman"/>
              </a:rPr>
              <a:t>chính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xác:</a:t>
            </a:r>
            <a:r>
              <a:rPr lang="en-US" dirty="0" err="1">
                <a:latin typeface="Time s New Roman"/>
              </a:rPr>
              <a:t>Các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trường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nhập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liệu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trực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quan</a:t>
            </a:r>
            <a:r>
              <a:rPr lang="en-US" dirty="0">
                <a:latin typeface="Time s New Roman"/>
              </a:rPr>
              <a:t> bao </a:t>
            </a:r>
            <a:r>
              <a:rPr lang="en-US" dirty="0" err="1">
                <a:latin typeface="Time s New Roman"/>
              </a:rPr>
              <a:t>gồm</a:t>
            </a:r>
            <a:r>
              <a:rPr lang="en-US" dirty="0">
                <a:latin typeface="Time s New Roman"/>
              </a:rPr>
              <a:t>: </a:t>
            </a:r>
            <a:r>
              <a:rPr lang="en-US" dirty="0" err="1">
                <a:latin typeface="Time s New Roman"/>
              </a:rPr>
              <a:t>Tên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khách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nhận</a:t>
            </a:r>
            <a:r>
              <a:rPr lang="en-US" dirty="0">
                <a:latin typeface="Time s New Roman"/>
              </a:rPr>
              <a:t> (Nhat Tien), </a:t>
            </a:r>
            <a:r>
              <a:rPr lang="en-US" dirty="0" err="1">
                <a:latin typeface="Time s New Roman"/>
              </a:rPr>
              <a:t>Số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điện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thoại</a:t>
            </a:r>
            <a:r>
              <a:rPr lang="en-US" dirty="0">
                <a:latin typeface="Time s New Roman"/>
              </a:rPr>
              <a:t> (0941353792) </a:t>
            </a:r>
            <a:r>
              <a:rPr lang="en-US" dirty="0" err="1">
                <a:latin typeface="Time s New Roman"/>
              </a:rPr>
              <a:t>và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Địa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chỉ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nhận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 (Thu Duc).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>
                <a:latin typeface="Time s New Roman"/>
              </a:rPr>
              <a:t>Phương </a:t>
            </a:r>
            <a:r>
              <a:rPr lang="en-US" b="1" dirty="0" err="1">
                <a:latin typeface="Time s New Roman"/>
              </a:rPr>
              <a:t>thức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thanh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toán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đa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dạng:</a:t>
            </a:r>
            <a:r>
              <a:rPr lang="en-US" dirty="0" err="1">
                <a:latin typeface="Time s New Roman"/>
              </a:rPr>
              <a:t>Hỗ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trợ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chọn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nhanh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giữa</a:t>
            </a:r>
            <a:r>
              <a:rPr lang="en-US" dirty="0">
                <a:latin typeface="Time s New Roman"/>
              </a:rPr>
              <a:t> *Thanh </a:t>
            </a:r>
            <a:r>
              <a:rPr lang="en-US" dirty="0" err="1">
                <a:latin typeface="Time s New Roman"/>
              </a:rPr>
              <a:t>toán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nhận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 (COD)* </a:t>
            </a:r>
            <a:r>
              <a:rPr lang="en-US" dirty="0" err="1">
                <a:latin typeface="Time s New Roman"/>
              </a:rPr>
              <a:t>và</a:t>
            </a:r>
            <a:r>
              <a:rPr lang="en-US" dirty="0">
                <a:latin typeface="Time s New Roman"/>
              </a:rPr>
              <a:t> *</a:t>
            </a:r>
            <a:r>
              <a:rPr lang="en-US" dirty="0" err="1">
                <a:latin typeface="Time s New Roman"/>
              </a:rPr>
              <a:t>Chuyển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khoản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ngân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*.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3F9CE-505C-FF63-6414-BB081FFF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20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411E4-FA74-C4EB-EC87-17FC9B4B1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437" y="2904134"/>
            <a:ext cx="2165299" cy="297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01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E436A-8A95-91CD-D3EF-E475F747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6 -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0860-B942-BD1E-D373-0CCBACD28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487972" cy="33189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 err="1">
                <a:latin typeface="Time s New Roman"/>
              </a:rPr>
              <a:t>Cổng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Điều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Khiển</a:t>
            </a:r>
            <a:r>
              <a:rPr lang="en-US" sz="3000" b="1" dirty="0">
                <a:latin typeface="Time s New Roman"/>
              </a:rPr>
              <a:t> Quản </a:t>
            </a:r>
            <a:r>
              <a:rPr lang="en-US" sz="3000" b="1" dirty="0" err="1">
                <a:latin typeface="Time s New Roman"/>
              </a:rPr>
              <a:t>Trị</a:t>
            </a:r>
            <a:r>
              <a:rPr lang="en-US" sz="3000" b="1" dirty="0">
                <a:latin typeface="Time s New Roman"/>
              </a:rPr>
              <a:t> Viên (Admin Panel)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	</a:t>
            </a:r>
            <a:r>
              <a:rPr lang="en-US" b="1" dirty="0">
                <a:latin typeface="Time s New Roman"/>
              </a:rPr>
              <a:t>Giao </a:t>
            </a:r>
            <a:r>
              <a:rPr lang="en-US" b="1" dirty="0" err="1">
                <a:latin typeface="Time s New Roman"/>
              </a:rPr>
              <a:t>diện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chuyên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biệt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cho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nhân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viên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điều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hành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quán</a:t>
            </a:r>
            <a:r>
              <a:rPr lang="en-US" b="1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 err="1">
                <a:latin typeface="Time s New Roman"/>
              </a:rPr>
              <a:t>Phân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quyền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tài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khoản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bảo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mật:</a:t>
            </a:r>
            <a:r>
              <a:rPr lang="en-US" dirty="0" err="1">
                <a:latin typeface="Time s New Roman"/>
              </a:rPr>
              <a:t>Chỉ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tài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khoản</a:t>
            </a:r>
            <a:r>
              <a:rPr lang="en-US" dirty="0">
                <a:latin typeface="Time s New Roman"/>
              </a:rPr>
              <a:t> admin </a:t>
            </a:r>
            <a:r>
              <a:rPr lang="en-US" dirty="0" err="1">
                <a:latin typeface="Time s New Roman"/>
              </a:rPr>
              <a:t>được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cấp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quyền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mới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có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thể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truy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cập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vào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giao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diện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quản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trị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viên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đặc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thù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này</a:t>
            </a:r>
            <a:r>
              <a:rPr lang="en-US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 err="1">
                <a:latin typeface="Time s New Roman"/>
              </a:rPr>
              <a:t>Phân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hệ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tính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năng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rõ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ràng:</a:t>
            </a:r>
            <a:r>
              <a:rPr lang="en-US" dirty="0" err="1">
                <a:latin typeface="Time s New Roman"/>
              </a:rPr>
              <a:t>Bao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gồm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nút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truy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cập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nhanh</a:t>
            </a:r>
            <a:r>
              <a:rPr lang="en-US" dirty="0">
                <a:latin typeface="Time s New Roman"/>
              </a:rPr>
              <a:t> "Quản </a:t>
            </a:r>
            <a:r>
              <a:rPr lang="en-US" dirty="0" err="1">
                <a:latin typeface="Time s New Roman"/>
              </a:rPr>
              <a:t>lý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đơn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" </a:t>
            </a:r>
            <a:r>
              <a:rPr lang="en-US" dirty="0" err="1">
                <a:latin typeface="Time s New Roman"/>
              </a:rPr>
              <a:t>và</a:t>
            </a:r>
            <a:r>
              <a:rPr lang="en-US" dirty="0">
                <a:latin typeface="Time s New Roman"/>
              </a:rPr>
              <a:t> "</a:t>
            </a:r>
            <a:r>
              <a:rPr lang="en-US" dirty="0" err="1">
                <a:latin typeface="Time s New Roman"/>
              </a:rPr>
              <a:t>Thống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kê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doanh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thu</a:t>
            </a:r>
            <a:r>
              <a:rPr lang="en-US" dirty="0">
                <a:latin typeface="Time s New Roman"/>
              </a:rPr>
              <a:t>" </a:t>
            </a:r>
            <a:r>
              <a:rPr lang="en-US" dirty="0" err="1">
                <a:latin typeface="Time s New Roman"/>
              </a:rPr>
              <a:t>được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thiết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kế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dạng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nút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tối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giản</a:t>
            </a:r>
            <a:r>
              <a:rPr lang="en-US" dirty="0">
                <a:latin typeface="Time s New Roman"/>
              </a:rPr>
              <a:t>, </a:t>
            </a:r>
            <a:r>
              <a:rPr lang="en-US" dirty="0" err="1">
                <a:latin typeface="Time s New Roman"/>
              </a:rPr>
              <a:t>tương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phản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cao</a:t>
            </a:r>
            <a:r>
              <a:rPr lang="en-US" dirty="0">
                <a:latin typeface="Time s New Roman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3FBD2-2C7A-4AA3-224B-2B741332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21</a:t>
            </a:fld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EC49F-DC57-3742-965A-4411E441C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067" y="2882188"/>
            <a:ext cx="2043834" cy="299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7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973F-0957-20A3-0E84-730244E0B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E5373-FE10-BEF3-2710-2EB9ACEF2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6173418" cy="33189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b="1" dirty="0">
                <a:latin typeface="Time s New Roman"/>
              </a:rPr>
              <a:t>Quản Lý </a:t>
            </a:r>
            <a:r>
              <a:rPr lang="en-US" sz="3000" b="1" dirty="0" err="1">
                <a:latin typeface="Time s New Roman"/>
              </a:rPr>
              <a:t>Toàn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Bộ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Đơn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Hàng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Khách</a:t>
            </a:r>
            <a:r>
              <a:rPr lang="en-US" sz="3000" b="1" dirty="0">
                <a:latin typeface="Time s New Roman"/>
              </a:rPr>
              <a:t> </a:t>
            </a:r>
            <a:r>
              <a:rPr lang="en-US" sz="3000" b="1" dirty="0" err="1">
                <a:latin typeface="Time s New Roman"/>
              </a:rPr>
              <a:t>Hàng</a:t>
            </a:r>
            <a:endParaRPr lang="en-US" sz="3000" b="1" dirty="0">
              <a:latin typeface="Time s New Roman"/>
            </a:endParaRP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	</a:t>
            </a:r>
            <a:r>
              <a:rPr lang="en-US" b="1" dirty="0" err="1">
                <a:latin typeface="Time s New Roman"/>
              </a:rPr>
              <a:t>Kiểm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soát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luồng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đơn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hàng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từ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mọi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khách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hàng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thời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gian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thực</a:t>
            </a:r>
            <a:r>
              <a:rPr lang="en-US" b="1" dirty="0">
                <a:latin typeface="Time s New Roman"/>
              </a:rPr>
              <a:t>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 err="1">
                <a:latin typeface="Time s New Roman"/>
              </a:rPr>
              <a:t>Luồng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tiếp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nhận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đồng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bộ:</a:t>
            </a:r>
            <a:r>
              <a:rPr lang="en-US" dirty="0" err="1">
                <a:latin typeface="Time s New Roman"/>
              </a:rPr>
              <a:t>Đơn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hàng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mới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nhất</a:t>
            </a:r>
            <a:r>
              <a:rPr lang="en-US" dirty="0">
                <a:latin typeface="Time s New Roman"/>
              </a:rPr>
              <a:t> `#OAHRTN` </a:t>
            </a:r>
            <a:r>
              <a:rPr lang="en-US" dirty="0" err="1">
                <a:latin typeface="Time s New Roman"/>
              </a:rPr>
              <a:t>trị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giá</a:t>
            </a:r>
            <a:r>
              <a:rPr lang="en-US" dirty="0">
                <a:latin typeface="Time s New Roman"/>
              </a:rPr>
              <a:t> `345.000 VND` (</a:t>
            </a:r>
            <a:r>
              <a:rPr lang="en-US" dirty="0" err="1">
                <a:latin typeface="Time s New Roman"/>
              </a:rPr>
              <a:t>được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khách</a:t>
            </a:r>
            <a:r>
              <a:rPr lang="en-US" dirty="0">
                <a:latin typeface="Time s New Roman"/>
              </a:rPr>
              <a:t> Nhat Tien </a:t>
            </a:r>
            <a:r>
              <a:rPr lang="en-US" dirty="0" err="1">
                <a:latin typeface="Time s New Roman"/>
              </a:rPr>
              <a:t>đặt</a:t>
            </a:r>
            <a:r>
              <a:rPr lang="en-US" dirty="0">
                <a:latin typeface="Time s New Roman"/>
              </a:rPr>
              <a:t> ở Slide </a:t>
            </a:r>
            <a:r>
              <a:rPr lang="en-US" dirty="0" err="1">
                <a:latin typeface="Time s New Roman"/>
              </a:rPr>
              <a:t>trước</a:t>
            </a:r>
            <a:r>
              <a:rPr lang="en-US" dirty="0">
                <a:latin typeface="Time s New Roman"/>
              </a:rPr>
              <a:t>) </a:t>
            </a:r>
            <a:r>
              <a:rPr lang="en-US" dirty="0" err="1">
                <a:latin typeface="Time s New Roman"/>
              </a:rPr>
              <a:t>lập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tức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hiển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thị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trên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đầu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danh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sách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của</a:t>
            </a:r>
            <a:r>
              <a:rPr lang="en-US" dirty="0">
                <a:latin typeface="Time s New Roman"/>
              </a:rPr>
              <a:t> Admin.</a:t>
            </a:r>
          </a:p>
          <a:p>
            <a:pPr marL="0" indent="0">
              <a:buNone/>
            </a:pPr>
            <a:r>
              <a:rPr lang="vi-VN" b="1" dirty="0">
                <a:latin typeface="Time s New Roman"/>
              </a:rPr>
              <a:t>- </a:t>
            </a:r>
            <a:r>
              <a:rPr lang="en-US" b="1" dirty="0" err="1">
                <a:latin typeface="Time s New Roman"/>
              </a:rPr>
              <a:t>Cập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nhật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trạng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thái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tức</a:t>
            </a:r>
            <a:r>
              <a:rPr lang="en-US" b="1" dirty="0">
                <a:latin typeface="Time s New Roman"/>
              </a:rPr>
              <a:t> </a:t>
            </a:r>
            <a:r>
              <a:rPr lang="en-US" b="1" dirty="0" err="1">
                <a:latin typeface="Time s New Roman"/>
              </a:rPr>
              <a:t>thời:</a:t>
            </a:r>
            <a:r>
              <a:rPr lang="en-US" dirty="0" err="1">
                <a:latin typeface="Time s New Roman"/>
              </a:rPr>
              <a:t>Admin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có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thể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phê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duyệt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từ</a:t>
            </a:r>
            <a:r>
              <a:rPr lang="en-US" dirty="0">
                <a:latin typeface="Time s New Roman"/>
              </a:rPr>
              <a:t> "Pending" sang "Processing" </a:t>
            </a:r>
            <a:r>
              <a:rPr lang="en-US" dirty="0" err="1">
                <a:latin typeface="Time s New Roman"/>
              </a:rPr>
              <a:t>để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nhà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bếp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bắt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đầu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chuẩn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bị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đồ</a:t>
            </a:r>
            <a:r>
              <a:rPr lang="en-US" dirty="0">
                <a:latin typeface="Time s New Roman"/>
              </a:rPr>
              <a:t> </a:t>
            </a:r>
            <a:r>
              <a:rPr lang="en-US" dirty="0" err="1">
                <a:latin typeface="Time s New Roman"/>
              </a:rPr>
              <a:t>uống</a:t>
            </a:r>
            <a:r>
              <a:rPr lang="en-US" dirty="0">
                <a:latin typeface="Time s New Roman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F6D89-C0D6-8CB0-C576-B339D441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22</a:t>
            </a:fld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0C9F35-2546-96BE-EF7F-255EC369C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448" y="2874874"/>
            <a:ext cx="2304287" cy="30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67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3E3D-1F83-E146-73B4-72D80787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3" y="989447"/>
            <a:ext cx="9601196" cy="132616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8646-32B8-D7EA-F6D6-D982C47C7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054" y="2600620"/>
            <a:ext cx="9601196" cy="3375695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CafeApp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Android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SDK 26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SDK 34.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Realtime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Cloud.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(UI/UX)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ZaloPay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VNPAY),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(COD).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(Push Notification)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33C93-3ACA-C469-5AF0-8E48E9A0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2" y="5976315"/>
            <a:ext cx="542697" cy="284178"/>
          </a:xfrm>
        </p:spPr>
        <p:txBody>
          <a:bodyPr/>
          <a:lstStyle/>
          <a:p>
            <a:fld id="{418CA5CC-EC16-4037-8EA8-BE273E13B706}" type="slidenum">
              <a:rPr lang="vi-V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454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6C37-5C8F-D5BF-4844-E1FC4D02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– Kết Luận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A9B0-2DFF-30C7-2F32-8ACA8C57E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SDK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(Recommendation System)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9825E-A99D-A8A2-9423-F0E5465D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8958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F702-1383-274B-A8CC-4B005AB0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Tài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E66FE-32D5-C482-4633-914232EAC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1.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Developers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Material Design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MVVM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Google.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Realtime Database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NoSQL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Kotlin Coroutines &amp; Flow Developer Guide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Tài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026FC-A627-1F45-A4B8-D6811429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3990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02449-537D-66B3-A74E-9E9B50FE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Lời Cảm 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B78A-DA57-A3D0-7D63-8A01DDAC4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đê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tài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đỡ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Học Quốc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Hồng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Huỳnh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Vĩnh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Huỳnh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Vĩnh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huyết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Quốc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Hồng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suốt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Hiệu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Học Quốc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Hồng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Công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Thông Tin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6ACCB-3B81-244D-3D36-EDF31A6E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A5CC-EC16-4037-8EA8-BE273E13B706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583185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464</TotalTime>
  <Words>2814</Words>
  <Application>Microsoft Office PowerPoint</Application>
  <PresentationFormat>Widescreen</PresentationFormat>
  <Paragraphs>182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Garamond</vt:lpstr>
      <vt:lpstr>Time s New Roman</vt:lpstr>
      <vt:lpstr>Times New Roman</vt:lpstr>
      <vt:lpstr>Organic</vt:lpstr>
      <vt:lpstr>DỰ ÁN  QUẢN LÍ APP CAFE</vt:lpstr>
      <vt:lpstr>Mục lục</vt:lpstr>
      <vt:lpstr>1. Mở đầu – Tổng quan</vt:lpstr>
      <vt:lpstr>1. Mở đầu – Tổng quan</vt:lpstr>
      <vt:lpstr>2 – Tech Stack – Công Nghệ Sử Dụng</vt:lpstr>
      <vt:lpstr>2 – Tech Stack – Kiến trúc App</vt:lpstr>
      <vt:lpstr>3 – Chức năng</vt:lpstr>
      <vt:lpstr>3 – Chức năng</vt:lpstr>
      <vt:lpstr>3 – Chức năng</vt:lpstr>
      <vt:lpstr>3 – Chức năng</vt:lpstr>
      <vt:lpstr>4 - CSDL</vt:lpstr>
      <vt:lpstr>4 - CSDL</vt:lpstr>
      <vt:lpstr>4 - CSDL</vt:lpstr>
      <vt:lpstr>5 – Giới thiệu Code</vt:lpstr>
      <vt:lpstr>6 - Demo</vt:lpstr>
      <vt:lpstr>6 - Demo</vt:lpstr>
      <vt:lpstr>6 - Demo</vt:lpstr>
      <vt:lpstr>6 - Demo</vt:lpstr>
      <vt:lpstr>6 - Demo</vt:lpstr>
      <vt:lpstr>6 - Demo</vt:lpstr>
      <vt:lpstr>6 - Demo</vt:lpstr>
      <vt:lpstr>PowerPoint Presentation</vt:lpstr>
      <vt:lpstr>7 – Kết luận</vt:lpstr>
      <vt:lpstr>7 – Kết Luận</vt:lpstr>
      <vt:lpstr>Tài liệu tham khảo</vt:lpstr>
      <vt:lpstr>Lời Cảm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Phat Huynh Vinh</dc:creator>
  <cp:lastModifiedBy>Nguyen Nhat Tien</cp:lastModifiedBy>
  <cp:revision>20</cp:revision>
  <dcterms:created xsi:type="dcterms:W3CDTF">2026-06-19T04:43:52Z</dcterms:created>
  <dcterms:modified xsi:type="dcterms:W3CDTF">2026-07-17T03:58:53Z</dcterms:modified>
</cp:coreProperties>
</file>